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Glacial Indifference" panose="020B0604020202020204" charset="0"/>
      <p:regular r:id="rId19"/>
    </p:embeddedFont>
    <p:embeddedFont>
      <p:font typeface="Glacial Indifference Bold" panose="020B0604020202020204" charset="0"/>
      <p:regular r:id="rId20"/>
    </p:embeddedFont>
    <p:embeddedFont>
      <p:font typeface="Poly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jpeg"/><Relationship Id="rId3" Type="http://schemas.openxmlformats.org/officeDocument/2006/relationships/image" Target="../media/image9.sv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31.svg"/><Relationship Id="rId3" Type="http://schemas.openxmlformats.org/officeDocument/2006/relationships/image" Target="../media/image22.svg"/><Relationship Id="rId7" Type="http://schemas.openxmlformats.org/officeDocument/2006/relationships/image" Target="../media/image25.svg"/><Relationship Id="rId12" Type="http://schemas.openxmlformats.org/officeDocument/2006/relationships/image" Target="../media/image30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11" Type="http://schemas.openxmlformats.org/officeDocument/2006/relationships/image" Target="../media/image29.svg"/><Relationship Id="rId5" Type="http://schemas.openxmlformats.org/officeDocument/2006/relationships/image" Target="../media/image24.svg"/><Relationship Id="rId10" Type="http://schemas.openxmlformats.org/officeDocument/2006/relationships/image" Target="../media/image28.svg"/><Relationship Id="rId4" Type="http://schemas.openxmlformats.org/officeDocument/2006/relationships/image" Target="../media/image23.png"/><Relationship Id="rId9" Type="http://schemas.openxmlformats.org/officeDocument/2006/relationships/image" Target="../media/image27.svg"/><Relationship Id="rId14" Type="http://schemas.openxmlformats.org/officeDocument/2006/relationships/image" Target="../media/image3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svg"/><Relationship Id="rId7" Type="http://schemas.openxmlformats.org/officeDocument/2006/relationships/image" Target="../media/image42.svg"/><Relationship Id="rId12" Type="http://schemas.openxmlformats.org/officeDocument/2006/relationships/image" Target="../media/image47.sv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sv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svg"/><Relationship Id="rId9" Type="http://schemas.openxmlformats.org/officeDocument/2006/relationships/image" Target="../media/image44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25.svg"/><Relationship Id="rId7" Type="http://schemas.openxmlformats.org/officeDocument/2006/relationships/image" Target="../media/image48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11" Type="http://schemas.openxmlformats.org/officeDocument/2006/relationships/image" Target="../media/image52.svg"/><Relationship Id="rId5" Type="http://schemas.openxmlformats.org/officeDocument/2006/relationships/image" Target="../media/image27.svg"/><Relationship Id="rId10" Type="http://schemas.openxmlformats.org/officeDocument/2006/relationships/image" Target="../media/image51.svg"/><Relationship Id="rId4" Type="http://schemas.openxmlformats.org/officeDocument/2006/relationships/image" Target="../media/image26.svg"/><Relationship Id="rId9" Type="http://schemas.openxmlformats.org/officeDocument/2006/relationships/image" Target="../media/image5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image" Target="../media/image5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58076" y="453196"/>
            <a:ext cx="3371848" cy="828913"/>
          </a:xfrm>
          <a:custGeom>
            <a:avLst/>
            <a:gdLst/>
            <a:ahLst/>
            <a:cxnLst/>
            <a:rect l="l" t="t" r="r" b="b"/>
            <a:pathLst>
              <a:path w="3371848" h="828913">
                <a:moveTo>
                  <a:pt x="0" y="0"/>
                </a:moveTo>
                <a:lnTo>
                  <a:pt x="3371848" y="0"/>
                </a:lnTo>
                <a:lnTo>
                  <a:pt x="3371848" y="828912"/>
                </a:lnTo>
                <a:lnTo>
                  <a:pt x="0" y="8289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" name="TextBox 3"/>
          <p:cNvSpPr txBox="1"/>
          <p:nvPr/>
        </p:nvSpPr>
        <p:spPr>
          <a:xfrm>
            <a:off x="12246950" y="8629567"/>
            <a:ext cx="4416739" cy="351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230">
                <a:solidFill>
                  <a:srgbClr val="001E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Integrante: Benjamin Tapia Vergara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391729" y="2626647"/>
            <a:ext cx="5504542" cy="411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7"/>
              </a:lnSpc>
            </a:pPr>
            <a:r>
              <a:rPr lang="en-US" sz="3478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Proyecto portafolio de título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205960" y="1576427"/>
            <a:ext cx="5876081" cy="321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8"/>
              </a:lnSpc>
            </a:pPr>
            <a:r>
              <a:rPr lang="en-US" sz="2744" spc="181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INSTITUTO PROFESIONAL DUOC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964770" y="2082613"/>
            <a:ext cx="2358461" cy="248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3"/>
              </a:lnSpc>
            </a:pPr>
            <a:r>
              <a:rPr lang="en-US" sz="2088" spc="137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SEDE ALAMEDA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31820" y="4999507"/>
            <a:ext cx="15224360" cy="2530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32"/>
              </a:lnSpc>
            </a:pPr>
            <a:r>
              <a:rPr lang="en-US" sz="5818" spc="407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Sistema de alerta temprana para la identificación de estudiantes con posibles dificultades de aprendizaje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36023" y="3486089"/>
            <a:ext cx="3815953" cy="1484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33"/>
              </a:lnSpc>
              <a:spcBef>
                <a:spcPct val="0"/>
              </a:spcBef>
            </a:pPr>
            <a:r>
              <a:rPr lang="en-US" sz="8666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ATEDA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61968" y="9072954"/>
            <a:ext cx="4601721" cy="351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33"/>
              </a:lnSpc>
            </a:pPr>
            <a:r>
              <a:rPr lang="en-US" sz="2230">
                <a:solidFill>
                  <a:srgbClr val="001E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Profesor guia: Felipe Krauss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54459" y="9542400"/>
            <a:ext cx="4601721" cy="351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33"/>
              </a:lnSpc>
            </a:pPr>
            <a:r>
              <a:rPr lang="en-US" sz="2230">
                <a:solidFill>
                  <a:srgbClr val="001E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Santiago,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16896" y="-161925"/>
            <a:ext cx="6621123" cy="10880955"/>
            <a:chOff x="0" y="0"/>
            <a:chExt cx="1743835" cy="28657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43835" cy="2865766"/>
            </a:xfrm>
            <a:custGeom>
              <a:avLst/>
              <a:gdLst/>
              <a:ahLst/>
              <a:cxnLst/>
              <a:rect l="l" t="t" r="r" b="b"/>
              <a:pathLst>
                <a:path w="1743835" h="2865766">
                  <a:moveTo>
                    <a:pt x="0" y="0"/>
                  </a:moveTo>
                  <a:lnTo>
                    <a:pt x="1743835" y="0"/>
                  </a:lnTo>
                  <a:lnTo>
                    <a:pt x="1743835" y="2865766"/>
                  </a:lnTo>
                  <a:lnTo>
                    <a:pt x="0" y="2865766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743835" cy="29229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335134" y="5594933"/>
            <a:ext cx="3369017" cy="3234257"/>
          </a:xfrm>
          <a:custGeom>
            <a:avLst/>
            <a:gdLst/>
            <a:ahLst/>
            <a:cxnLst/>
            <a:rect l="l" t="t" r="r" b="b"/>
            <a:pathLst>
              <a:path w="3369017" h="3234257">
                <a:moveTo>
                  <a:pt x="0" y="0"/>
                </a:moveTo>
                <a:lnTo>
                  <a:pt x="3369018" y="0"/>
                </a:lnTo>
                <a:lnTo>
                  <a:pt x="3369018" y="3234257"/>
                </a:lnTo>
                <a:lnTo>
                  <a:pt x="0" y="3234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6" name="Freeform 6"/>
          <p:cNvSpPr/>
          <p:nvPr/>
        </p:nvSpPr>
        <p:spPr>
          <a:xfrm>
            <a:off x="12896411" y="608369"/>
            <a:ext cx="4462092" cy="3346569"/>
          </a:xfrm>
          <a:custGeom>
            <a:avLst/>
            <a:gdLst/>
            <a:ahLst/>
            <a:cxnLst/>
            <a:rect l="l" t="t" r="r" b="b"/>
            <a:pathLst>
              <a:path w="4462092" h="3346569">
                <a:moveTo>
                  <a:pt x="0" y="0"/>
                </a:moveTo>
                <a:lnTo>
                  <a:pt x="4462092" y="0"/>
                </a:lnTo>
                <a:lnTo>
                  <a:pt x="4462092" y="3346568"/>
                </a:lnTo>
                <a:lnTo>
                  <a:pt x="0" y="3346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7" name="TextBox 7"/>
          <p:cNvSpPr txBox="1"/>
          <p:nvPr/>
        </p:nvSpPr>
        <p:spPr>
          <a:xfrm>
            <a:off x="177941" y="3086064"/>
            <a:ext cx="10497975" cy="5756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88777" lvl="1" indent="-544389" algn="l">
              <a:lnSpc>
                <a:spcPts val="11346"/>
              </a:lnSpc>
              <a:buFont typeface="Arial"/>
              <a:buChar char="•"/>
            </a:pPr>
            <a:r>
              <a:rPr lang="en-US" sz="5042" spc="-156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Baja en las calificaciones</a:t>
            </a:r>
          </a:p>
          <a:p>
            <a:pPr marL="1088777" lvl="1" indent="-544389" algn="l">
              <a:lnSpc>
                <a:spcPts val="11346"/>
              </a:lnSpc>
              <a:buFont typeface="Arial"/>
              <a:buChar char="•"/>
            </a:pPr>
            <a:r>
              <a:rPr lang="en-US" sz="5042" spc="-156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Observación docente</a:t>
            </a:r>
          </a:p>
          <a:p>
            <a:pPr marL="1088777" lvl="1" indent="-544389" algn="l">
              <a:lnSpc>
                <a:spcPts val="12607"/>
              </a:lnSpc>
              <a:buFont typeface="Arial"/>
              <a:buChar char="•"/>
            </a:pPr>
            <a:r>
              <a:rPr lang="en-US" sz="5042" spc="-156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Variación en la asistencia</a:t>
            </a:r>
          </a:p>
          <a:p>
            <a:pPr marL="1088777" lvl="1" indent="-544389" algn="l">
              <a:lnSpc>
                <a:spcPts val="11346"/>
              </a:lnSpc>
              <a:buFont typeface="Arial"/>
              <a:buChar char="•"/>
            </a:pPr>
            <a:r>
              <a:rPr lang="en-US" sz="5042" spc="-156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Anotaciones negativas</a:t>
            </a:r>
          </a:p>
        </p:txBody>
      </p:sp>
      <p:sp>
        <p:nvSpPr>
          <p:cNvPr id="8" name="Freeform 8"/>
          <p:cNvSpPr/>
          <p:nvPr/>
        </p:nvSpPr>
        <p:spPr>
          <a:xfrm>
            <a:off x="8624816" y="4957159"/>
            <a:ext cx="942265" cy="942265"/>
          </a:xfrm>
          <a:custGeom>
            <a:avLst/>
            <a:gdLst/>
            <a:ahLst/>
            <a:cxnLst/>
            <a:rect l="l" t="t" r="r" b="b"/>
            <a:pathLst>
              <a:path w="942265" h="942265">
                <a:moveTo>
                  <a:pt x="0" y="0"/>
                </a:moveTo>
                <a:lnTo>
                  <a:pt x="942265" y="0"/>
                </a:lnTo>
                <a:lnTo>
                  <a:pt x="942265" y="942265"/>
                </a:lnTo>
                <a:lnTo>
                  <a:pt x="0" y="9422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9" name="Freeform 9"/>
          <p:cNvSpPr/>
          <p:nvPr/>
        </p:nvSpPr>
        <p:spPr>
          <a:xfrm>
            <a:off x="8677951" y="8097811"/>
            <a:ext cx="942265" cy="862173"/>
          </a:xfrm>
          <a:custGeom>
            <a:avLst/>
            <a:gdLst/>
            <a:ahLst/>
            <a:cxnLst/>
            <a:rect l="l" t="t" r="r" b="b"/>
            <a:pathLst>
              <a:path w="942265" h="862173">
                <a:moveTo>
                  <a:pt x="0" y="0"/>
                </a:moveTo>
                <a:lnTo>
                  <a:pt x="942265" y="0"/>
                </a:lnTo>
                <a:lnTo>
                  <a:pt x="942265" y="862173"/>
                </a:lnTo>
                <a:lnTo>
                  <a:pt x="0" y="8621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0" name="Freeform 10"/>
          <p:cNvSpPr/>
          <p:nvPr/>
        </p:nvSpPr>
        <p:spPr>
          <a:xfrm>
            <a:off x="8387644" y="6555649"/>
            <a:ext cx="1512713" cy="884937"/>
          </a:xfrm>
          <a:custGeom>
            <a:avLst/>
            <a:gdLst/>
            <a:ahLst/>
            <a:cxnLst/>
            <a:rect l="l" t="t" r="r" b="b"/>
            <a:pathLst>
              <a:path w="1512713" h="884937">
                <a:moveTo>
                  <a:pt x="0" y="0"/>
                </a:moveTo>
                <a:lnTo>
                  <a:pt x="1512712" y="0"/>
                </a:lnTo>
                <a:lnTo>
                  <a:pt x="1512712" y="884937"/>
                </a:lnTo>
                <a:lnTo>
                  <a:pt x="0" y="8849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1" name="Freeform 11"/>
          <p:cNvSpPr/>
          <p:nvPr/>
        </p:nvSpPr>
        <p:spPr>
          <a:xfrm>
            <a:off x="8677951" y="3735601"/>
            <a:ext cx="889131" cy="666848"/>
          </a:xfrm>
          <a:custGeom>
            <a:avLst/>
            <a:gdLst/>
            <a:ahLst/>
            <a:cxnLst/>
            <a:rect l="l" t="t" r="r" b="b"/>
            <a:pathLst>
              <a:path w="889131" h="666848">
                <a:moveTo>
                  <a:pt x="0" y="0"/>
                </a:moveTo>
                <a:lnTo>
                  <a:pt x="889130" y="0"/>
                </a:lnTo>
                <a:lnTo>
                  <a:pt x="889130" y="666848"/>
                </a:lnTo>
                <a:lnTo>
                  <a:pt x="0" y="6668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2" name="TextBox 12"/>
          <p:cNvSpPr txBox="1"/>
          <p:nvPr/>
        </p:nvSpPr>
        <p:spPr>
          <a:xfrm>
            <a:off x="1028700" y="1019175"/>
            <a:ext cx="8796457" cy="1118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55"/>
              </a:lnSpc>
            </a:pPr>
            <a:r>
              <a:rPr lang="en-US" sz="7295" spc="-226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Problema y Relevancia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682361" y="8949459"/>
            <a:ext cx="1736805" cy="460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968" spc="-92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Pre-Kinder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835749" y="5133975"/>
            <a:ext cx="1736805" cy="460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968" spc="-92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IV-Medio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52739" y="-161925"/>
            <a:ext cx="6585280" cy="4429134"/>
            <a:chOff x="0" y="0"/>
            <a:chExt cx="1734395" cy="11665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34395" cy="1166521"/>
            </a:xfrm>
            <a:custGeom>
              <a:avLst/>
              <a:gdLst/>
              <a:ahLst/>
              <a:cxnLst/>
              <a:rect l="l" t="t" r="r" b="b"/>
              <a:pathLst>
                <a:path w="1734395" h="1166521">
                  <a:moveTo>
                    <a:pt x="0" y="0"/>
                  </a:moveTo>
                  <a:lnTo>
                    <a:pt x="1734395" y="0"/>
                  </a:lnTo>
                  <a:lnTo>
                    <a:pt x="1734395" y="1166521"/>
                  </a:lnTo>
                  <a:lnTo>
                    <a:pt x="0" y="1166521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734395" cy="12236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337368" y="1246285"/>
            <a:ext cx="1797079" cy="1662298"/>
          </a:xfrm>
          <a:custGeom>
            <a:avLst/>
            <a:gdLst/>
            <a:ahLst/>
            <a:cxnLst/>
            <a:rect l="l" t="t" r="r" b="b"/>
            <a:pathLst>
              <a:path w="1797079" h="1662298">
                <a:moveTo>
                  <a:pt x="0" y="0"/>
                </a:moveTo>
                <a:lnTo>
                  <a:pt x="1797079" y="0"/>
                </a:lnTo>
                <a:lnTo>
                  <a:pt x="1797079" y="1662298"/>
                </a:lnTo>
                <a:lnTo>
                  <a:pt x="0" y="16622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6" name="Freeform 6"/>
          <p:cNvSpPr/>
          <p:nvPr/>
        </p:nvSpPr>
        <p:spPr>
          <a:xfrm>
            <a:off x="4460382" y="1028700"/>
            <a:ext cx="1048734" cy="1048734"/>
          </a:xfrm>
          <a:custGeom>
            <a:avLst/>
            <a:gdLst/>
            <a:ahLst/>
            <a:cxnLst/>
            <a:rect l="l" t="t" r="r" b="b"/>
            <a:pathLst>
              <a:path w="1048734" h="1048734">
                <a:moveTo>
                  <a:pt x="0" y="0"/>
                </a:moveTo>
                <a:lnTo>
                  <a:pt x="1048733" y="0"/>
                </a:lnTo>
                <a:lnTo>
                  <a:pt x="1048733" y="1048734"/>
                </a:lnTo>
                <a:lnTo>
                  <a:pt x="0" y="10487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7" name="Freeform 7"/>
          <p:cNvSpPr/>
          <p:nvPr/>
        </p:nvSpPr>
        <p:spPr>
          <a:xfrm>
            <a:off x="984576" y="3999584"/>
            <a:ext cx="946677" cy="1646394"/>
          </a:xfrm>
          <a:custGeom>
            <a:avLst/>
            <a:gdLst/>
            <a:ahLst/>
            <a:cxnLst/>
            <a:rect l="l" t="t" r="r" b="b"/>
            <a:pathLst>
              <a:path w="946677" h="1646394">
                <a:moveTo>
                  <a:pt x="0" y="0"/>
                </a:moveTo>
                <a:lnTo>
                  <a:pt x="946676" y="0"/>
                </a:lnTo>
                <a:lnTo>
                  <a:pt x="946676" y="1646394"/>
                </a:lnTo>
                <a:lnTo>
                  <a:pt x="0" y="16463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8" name="Freeform 8"/>
          <p:cNvSpPr/>
          <p:nvPr/>
        </p:nvSpPr>
        <p:spPr>
          <a:xfrm>
            <a:off x="5797414" y="4096913"/>
            <a:ext cx="1075130" cy="1569532"/>
          </a:xfrm>
          <a:custGeom>
            <a:avLst/>
            <a:gdLst/>
            <a:ahLst/>
            <a:cxnLst/>
            <a:rect l="l" t="t" r="r" b="b"/>
            <a:pathLst>
              <a:path w="1075130" h="1569532">
                <a:moveTo>
                  <a:pt x="0" y="0"/>
                </a:moveTo>
                <a:lnTo>
                  <a:pt x="1075130" y="0"/>
                </a:lnTo>
                <a:lnTo>
                  <a:pt x="1075130" y="1569532"/>
                </a:lnTo>
                <a:lnTo>
                  <a:pt x="0" y="15695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9" name="Freeform 9"/>
          <p:cNvSpPr/>
          <p:nvPr/>
        </p:nvSpPr>
        <p:spPr>
          <a:xfrm>
            <a:off x="3448472" y="4076446"/>
            <a:ext cx="886786" cy="1569532"/>
          </a:xfrm>
          <a:custGeom>
            <a:avLst/>
            <a:gdLst/>
            <a:ahLst/>
            <a:cxnLst/>
            <a:rect l="l" t="t" r="r" b="b"/>
            <a:pathLst>
              <a:path w="886786" h="1569532">
                <a:moveTo>
                  <a:pt x="0" y="0"/>
                </a:moveTo>
                <a:lnTo>
                  <a:pt x="886786" y="0"/>
                </a:lnTo>
                <a:lnTo>
                  <a:pt x="886786" y="1569532"/>
                </a:lnTo>
                <a:lnTo>
                  <a:pt x="0" y="15695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0" name="Freeform 10"/>
          <p:cNvSpPr/>
          <p:nvPr/>
        </p:nvSpPr>
        <p:spPr>
          <a:xfrm>
            <a:off x="8344626" y="4122718"/>
            <a:ext cx="930982" cy="1569532"/>
          </a:xfrm>
          <a:custGeom>
            <a:avLst/>
            <a:gdLst/>
            <a:ahLst/>
            <a:cxnLst/>
            <a:rect l="l" t="t" r="r" b="b"/>
            <a:pathLst>
              <a:path w="930982" h="1569532">
                <a:moveTo>
                  <a:pt x="0" y="0"/>
                </a:moveTo>
                <a:lnTo>
                  <a:pt x="930982" y="0"/>
                </a:lnTo>
                <a:lnTo>
                  <a:pt x="930982" y="1569532"/>
                </a:lnTo>
                <a:lnTo>
                  <a:pt x="0" y="15695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07018" t="-58382" r="-120637" b="-32083"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1" name="AutoShape 11"/>
          <p:cNvSpPr/>
          <p:nvPr/>
        </p:nvSpPr>
        <p:spPr>
          <a:xfrm>
            <a:off x="1393382" y="6509349"/>
            <a:ext cx="9147479" cy="0"/>
          </a:xfrm>
          <a:prstGeom prst="line">
            <a:avLst/>
          </a:prstGeom>
          <a:ln w="95250" cap="flat">
            <a:solidFill>
              <a:srgbClr val="001E32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es-419"/>
          </a:p>
        </p:txBody>
      </p:sp>
      <p:sp>
        <p:nvSpPr>
          <p:cNvPr id="12" name="AutoShape 12"/>
          <p:cNvSpPr/>
          <p:nvPr/>
        </p:nvSpPr>
        <p:spPr>
          <a:xfrm>
            <a:off x="1442846" y="5931967"/>
            <a:ext cx="0" cy="1020390"/>
          </a:xfrm>
          <a:prstGeom prst="line">
            <a:avLst/>
          </a:prstGeom>
          <a:ln w="95250" cap="flat">
            <a:solidFill>
              <a:srgbClr val="001E3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419"/>
          </a:p>
        </p:txBody>
      </p:sp>
      <p:grpSp>
        <p:nvGrpSpPr>
          <p:cNvPr id="13" name="Group 13"/>
          <p:cNvGrpSpPr/>
          <p:nvPr/>
        </p:nvGrpSpPr>
        <p:grpSpPr>
          <a:xfrm>
            <a:off x="10415413" y="6213862"/>
            <a:ext cx="979765" cy="590974"/>
            <a:chOff x="0" y="0"/>
            <a:chExt cx="805739" cy="48600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05739" cy="486005"/>
            </a:xfrm>
            <a:custGeom>
              <a:avLst/>
              <a:gdLst/>
              <a:ahLst/>
              <a:cxnLst/>
              <a:rect l="l" t="t" r="r" b="b"/>
              <a:pathLst>
                <a:path w="805739" h="486005">
                  <a:moveTo>
                    <a:pt x="805739" y="243003"/>
                  </a:moveTo>
                  <a:lnTo>
                    <a:pt x="399339" y="0"/>
                  </a:lnTo>
                  <a:lnTo>
                    <a:pt x="399339" y="203200"/>
                  </a:lnTo>
                  <a:lnTo>
                    <a:pt x="0" y="203200"/>
                  </a:lnTo>
                  <a:lnTo>
                    <a:pt x="0" y="282805"/>
                  </a:lnTo>
                  <a:lnTo>
                    <a:pt x="399339" y="282805"/>
                  </a:lnTo>
                  <a:lnTo>
                    <a:pt x="399339" y="486005"/>
                  </a:lnTo>
                  <a:lnTo>
                    <a:pt x="805739" y="243003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46050"/>
              <a:ext cx="704139" cy="1367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6" name="AutoShape 16"/>
          <p:cNvSpPr/>
          <p:nvPr/>
        </p:nvSpPr>
        <p:spPr>
          <a:xfrm>
            <a:off x="2667356" y="6486867"/>
            <a:ext cx="0" cy="1020390"/>
          </a:xfrm>
          <a:prstGeom prst="line">
            <a:avLst/>
          </a:prstGeom>
          <a:ln w="95250" cap="flat">
            <a:solidFill>
              <a:srgbClr val="001E3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419"/>
          </a:p>
        </p:txBody>
      </p:sp>
      <p:sp>
        <p:nvSpPr>
          <p:cNvPr id="17" name="AutoShape 17"/>
          <p:cNvSpPr/>
          <p:nvPr/>
        </p:nvSpPr>
        <p:spPr>
          <a:xfrm>
            <a:off x="5747950" y="6509349"/>
            <a:ext cx="0" cy="1020390"/>
          </a:xfrm>
          <a:prstGeom prst="line">
            <a:avLst/>
          </a:prstGeom>
          <a:ln w="95250" cap="flat">
            <a:solidFill>
              <a:srgbClr val="001E3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419"/>
          </a:p>
        </p:txBody>
      </p:sp>
      <p:sp>
        <p:nvSpPr>
          <p:cNvPr id="18" name="Freeform 18"/>
          <p:cNvSpPr/>
          <p:nvPr/>
        </p:nvSpPr>
        <p:spPr>
          <a:xfrm>
            <a:off x="2298188" y="7561003"/>
            <a:ext cx="637003" cy="637003"/>
          </a:xfrm>
          <a:custGeom>
            <a:avLst/>
            <a:gdLst/>
            <a:ahLst/>
            <a:cxnLst/>
            <a:rect l="l" t="t" r="r" b="b"/>
            <a:pathLst>
              <a:path w="637003" h="637003">
                <a:moveTo>
                  <a:pt x="0" y="0"/>
                </a:moveTo>
                <a:lnTo>
                  <a:pt x="637003" y="0"/>
                </a:lnTo>
                <a:lnTo>
                  <a:pt x="637003" y="637004"/>
                </a:lnTo>
                <a:lnTo>
                  <a:pt x="0" y="6370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9" name="AutoShape 19"/>
          <p:cNvSpPr/>
          <p:nvPr/>
        </p:nvSpPr>
        <p:spPr>
          <a:xfrm>
            <a:off x="7378055" y="6509349"/>
            <a:ext cx="0" cy="1020390"/>
          </a:xfrm>
          <a:prstGeom prst="line">
            <a:avLst/>
          </a:prstGeom>
          <a:ln w="95250" cap="flat">
            <a:solidFill>
              <a:srgbClr val="001E3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419"/>
          </a:p>
        </p:txBody>
      </p:sp>
      <p:sp>
        <p:nvSpPr>
          <p:cNvPr id="20" name="Freeform 20"/>
          <p:cNvSpPr/>
          <p:nvPr/>
        </p:nvSpPr>
        <p:spPr>
          <a:xfrm rot="8314776">
            <a:off x="9416215" y="7451423"/>
            <a:ext cx="683462" cy="683462"/>
          </a:xfrm>
          <a:custGeom>
            <a:avLst/>
            <a:gdLst/>
            <a:ahLst/>
            <a:cxnLst/>
            <a:rect l="l" t="t" r="r" b="b"/>
            <a:pathLst>
              <a:path w="683462" h="683462">
                <a:moveTo>
                  <a:pt x="0" y="0"/>
                </a:moveTo>
                <a:lnTo>
                  <a:pt x="683461" y="0"/>
                </a:lnTo>
                <a:lnTo>
                  <a:pt x="683461" y="683462"/>
                </a:lnTo>
                <a:lnTo>
                  <a:pt x="0" y="6834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21" name="Freeform 21"/>
          <p:cNvSpPr/>
          <p:nvPr/>
        </p:nvSpPr>
        <p:spPr>
          <a:xfrm>
            <a:off x="5401601" y="7709921"/>
            <a:ext cx="692699" cy="839635"/>
          </a:xfrm>
          <a:custGeom>
            <a:avLst/>
            <a:gdLst/>
            <a:ahLst/>
            <a:cxnLst/>
            <a:rect l="l" t="t" r="r" b="b"/>
            <a:pathLst>
              <a:path w="692699" h="839635">
                <a:moveTo>
                  <a:pt x="0" y="0"/>
                </a:moveTo>
                <a:lnTo>
                  <a:pt x="692699" y="0"/>
                </a:lnTo>
                <a:lnTo>
                  <a:pt x="692699" y="839636"/>
                </a:lnTo>
                <a:lnTo>
                  <a:pt x="0" y="83963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22" name="Freeform 22"/>
          <p:cNvSpPr/>
          <p:nvPr/>
        </p:nvSpPr>
        <p:spPr>
          <a:xfrm>
            <a:off x="5163272" y="7507256"/>
            <a:ext cx="392280" cy="392280"/>
          </a:xfrm>
          <a:custGeom>
            <a:avLst/>
            <a:gdLst/>
            <a:ahLst/>
            <a:cxnLst/>
            <a:rect l="l" t="t" r="r" b="b"/>
            <a:pathLst>
              <a:path w="392280" h="392280">
                <a:moveTo>
                  <a:pt x="0" y="0"/>
                </a:moveTo>
                <a:lnTo>
                  <a:pt x="392281" y="0"/>
                </a:lnTo>
                <a:lnTo>
                  <a:pt x="392281" y="392281"/>
                </a:lnTo>
                <a:lnTo>
                  <a:pt x="0" y="3922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23" name="AutoShape 23"/>
          <p:cNvSpPr/>
          <p:nvPr/>
        </p:nvSpPr>
        <p:spPr>
          <a:xfrm flipH="1">
            <a:off x="6236051" y="5838777"/>
            <a:ext cx="0" cy="750170"/>
          </a:xfrm>
          <a:prstGeom prst="line">
            <a:avLst/>
          </a:prstGeom>
          <a:ln w="95250" cap="flat">
            <a:solidFill>
              <a:srgbClr val="001E3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419"/>
          </a:p>
        </p:txBody>
      </p:sp>
      <p:sp>
        <p:nvSpPr>
          <p:cNvPr id="24" name="Freeform 24"/>
          <p:cNvSpPr/>
          <p:nvPr/>
        </p:nvSpPr>
        <p:spPr>
          <a:xfrm>
            <a:off x="6109486" y="6382784"/>
            <a:ext cx="253130" cy="253130"/>
          </a:xfrm>
          <a:custGeom>
            <a:avLst/>
            <a:gdLst/>
            <a:ahLst/>
            <a:cxnLst/>
            <a:rect l="l" t="t" r="r" b="b"/>
            <a:pathLst>
              <a:path w="253130" h="253130">
                <a:moveTo>
                  <a:pt x="0" y="0"/>
                </a:moveTo>
                <a:lnTo>
                  <a:pt x="253130" y="0"/>
                </a:lnTo>
                <a:lnTo>
                  <a:pt x="253130" y="253130"/>
                </a:lnTo>
                <a:lnTo>
                  <a:pt x="0" y="253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25" name="Freeform 25"/>
          <p:cNvSpPr/>
          <p:nvPr/>
        </p:nvSpPr>
        <p:spPr>
          <a:xfrm>
            <a:off x="7251490" y="6382784"/>
            <a:ext cx="253130" cy="253130"/>
          </a:xfrm>
          <a:custGeom>
            <a:avLst/>
            <a:gdLst/>
            <a:ahLst/>
            <a:cxnLst/>
            <a:rect l="l" t="t" r="r" b="b"/>
            <a:pathLst>
              <a:path w="253130" h="253130">
                <a:moveTo>
                  <a:pt x="0" y="0"/>
                </a:moveTo>
                <a:lnTo>
                  <a:pt x="253130" y="0"/>
                </a:lnTo>
                <a:lnTo>
                  <a:pt x="253130" y="253130"/>
                </a:lnTo>
                <a:lnTo>
                  <a:pt x="0" y="253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26" name="Freeform 26"/>
          <p:cNvSpPr/>
          <p:nvPr/>
        </p:nvSpPr>
        <p:spPr>
          <a:xfrm>
            <a:off x="5621385" y="6382784"/>
            <a:ext cx="253130" cy="253130"/>
          </a:xfrm>
          <a:custGeom>
            <a:avLst/>
            <a:gdLst/>
            <a:ahLst/>
            <a:cxnLst/>
            <a:rect l="l" t="t" r="r" b="b"/>
            <a:pathLst>
              <a:path w="253130" h="253130">
                <a:moveTo>
                  <a:pt x="0" y="0"/>
                </a:moveTo>
                <a:lnTo>
                  <a:pt x="253130" y="0"/>
                </a:lnTo>
                <a:lnTo>
                  <a:pt x="253130" y="253130"/>
                </a:lnTo>
                <a:lnTo>
                  <a:pt x="0" y="253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27" name="AutoShape 27"/>
          <p:cNvSpPr/>
          <p:nvPr/>
        </p:nvSpPr>
        <p:spPr>
          <a:xfrm>
            <a:off x="8725673" y="5838777"/>
            <a:ext cx="0" cy="800836"/>
          </a:xfrm>
          <a:prstGeom prst="line">
            <a:avLst/>
          </a:prstGeom>
          <a:ln w="95250" cap="flat">
            <a:solidFill>
              <a:srgbClr val="001E3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419"/>
          </a:p>
        </p:txBody>
      </p:sp>
      <p:sp>
        <p:nvSpPr>
          <p:cNvPr id="28" name="Freeform 28"/>
          <p:cNvSpPr/>
          <p:nvPr/>
        </p:nvSpPr>
        <p:spPr>
          <a:xfrm>
            <a:off x="8599109" y="6382784"/>
            <a:ext cx="253130" cy="253130"/>
          </a:xfrm>
          <a:custGeom>
            <a:avLst/>
            <a:gdLst/>
            <a:ahLst/>
            <a:cxnLst/>
            <a:rect l="l" t="t" r="r" b="b"/>
            <a:pathLst>
              <a:path w="253130" h="253130">
                <a:moveTo>
                  <a:pt x="0" y="0"/>
                </a:moveTo>
                <a:lnTo>
                  <a:pt x="253129" y="0"/>
                </a:lnTo>
                <a:lnTo>
                  <a:pt x="253129" y="253130"/>
                </a:lnTo>
                <a:lnTo>
                  <a:pt x="0" y="253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29" name="AutoShape 29"/>
          <p:cNvSpPr/>
          <p:nvPr/>
        </p:nvSpPr>
        <p:spPr>
          <a:xfrm flipH="1">
            <a:off x="3895618" y="5838777"/>
            <a:ext cx="0" cy="750170"/>
          </a:xfrm>
          <a:prstGeom prst="line">
            <a:avLst/>
          </a:prstGeom>
          <a:ln w="95250" cap="flat">
            <a:solidFill>
              <a:srgbClr val="001E3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419"/>
          </a:p>
        </p:txBody>
      </p:sp>
      <p:sp>
        <p:nvSpPr>
          <p:cNvPr id="30" name="Freeform 30"/>
          <p:cNvSpPr/>
          <p:nvPr/>
        </p:nvSpPr>
        <p:spPr>
          <a:xfrm>
            <a:off x="3769053" y="6382784"/>
            <a:ext cx="253130" cy="253130"/>
          </a:xfrm>
          <a:custGeom>
            <a:avLst/>
            <a:gdLst/>
            <a:ahLst/>
            <a:cxnLst/>
            <a:rect l="l" t="t" r="r" b="b"/>
            <a:pathLst>
              <a:path w="253130" h="253130">
                <a:moveTo>
                  <a:pt x="0" y="0"/>
                </a:moveTo>
                <a:lnTo>
                  <a:pt x="253130" y="0"/>
                </a:lnTo>
                <a:lnTo>
                  <a:pt x="253130" y="253130"/>
                </a:lnTo>
                <a:lnTo>
                  <a:pt x="0" y="253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1" name="Freeform 31"/>
          <p:cNvSpPr/>
          <p:nvPr/>
        </p:nvSpPr>
        <p:spPr>
          <a:xfrm>
            <a:off x="2540791" y="6382784"/>
            <a:ext cx="253130" cy="253130"/>
          </a:xfrm>
          <a:custGeom>
            <a:avLst/>
            <a:gdLst/>
            <a:ahLst/>
            <a:cxnLst/>
            <a:rect l="l" t="t" r="r" b="b"/>
            <a:pathLst>
              <a:path w="253130" h="253130">
                <a:moveTo>
                  <a:pt x="0" y="0"/>
                </a:moveTo>
                <a:lnTo>
                  <a:pt x="253129" y="0"/>
                </a:lnTo>
                <a:lnTo>
                  <a:pt x="253129" y="253130"/>
                </a:lnTo>
                <a:lnTo>
                  <a:pt x="0" y="253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2" name="Freeform 32"/>
          <p:cNvSpPr/>
          <p:nvPr/>
        </p:nvSpPr>
        <p:spPr>
          <a:xfrm>
            <a:off x="6648110" y="7454318"/>
            <a:ext cx="1713021" cy="1533154"/>
          </a:xfrm>
          <a:custGeom>
            <a:avLst/>
            <a:gdLst/>
            <a:ahLst/>
            <a:cxnLst/>
            <a:rect l="l" t="t" r="r" b="b"/>
            <a:pathLst>
              <a:path w="1713021" h="1533154">
                <a:moveTo>
                  <a:pt x="0" y="0"/>
                </a:moveTo>
                <a:lnTo>
                  <a:pt x="1713020" y="0"/>
                </a:lnTo>
                <a:lnTo>
                  <a:pt x="1713020" y="1533154"/>
                </a:lnTo>
                <a:lnTo>
                  <a:pt x="0" y="153315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3" name="AutoShape 33"/>
          <p:cNvSpPr/>
          <p:nvPr/>
        </p:nvSpPr>
        <p:spPr>
          <a:xfrm>
            <a:off x="9757946" y="6509349"/>
            <a:ext cx="13207" cy="816437"/>
          </a:xfrm>
          <a:prstGeom prst="line">
            <a:avLst/>
          </a:prstGeom>
          <a:ln w="95250" cap="flat">
            <a:solidFill>
              <a:srgbClr val="001E3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419"/>
          </a:p>
        </p:txBody>
      </p:sp>
      <p:sp>
        <p:nvSpPr>
          <p:cNvPr id="34" name="Freeform 34"/>
          <p:cNvSpPr/>
          <p:nvPr/>
        </p:nvSpPr>
        <p:spPr>
          <a:xfrm>
            <a:off x="9631381" y="6382784"/>
            <a:ext cx="253130" cy="253130"/>
          </a:xfrm>
          <a:custGeom>
            <a:avLst/>
            <a:gdLst/>
            <a:ahLst/>
            <a:cxnLst/>
            <a:rect l="l" t="t" r="r" b="b"/>
            <a:pathLst>
              <a:path w="253130" h="253130">
                <a:moveTo>
                  <a:pt x="0" y="0"/>
                </a:moveTo>
                <a:lnTo>
                  <a:pt x="253130" y="0"/>
                </a:lnTo>
                <a:lnTo>
                  <a:pt x="253130" y="253130"/>
                </a:lnTo>
                <a:lnTo>
                  <a:pt x="0" y="2531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35" name="Group 35"/>
          <p:cNvGrpSpPr/>
          <p:nvPr/>
        </p:nvGrpSpPr>
        <p:grpSpPr>
          <a:xfrm>
            <a:off x="11852739" y="4267209"/>
            <a:ext cx="7307748" cy="6241247"/>
            <a:chOff x="0" y="0"/>
            <a:chExt cx="986702" cy="84270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86702" cy="842701"/>
            </a:xfrm>
            <a:custGeom>
              <a:avLst/>
              <a:gdLst/>
              <a:ahLst/>
              <a:cxnLst/>
              <a:rect l="l" t="t" r="r" b="b"/>
              <a:pathLst>
                <a:path w="986702" h="842701">
                  <a:moveTo>
                    <a:pt x="0" y="0"/>
                  </a:moveTo>
                  <a:lnTo>
                    <a:pt x="986702" y="0"/>
                  </a:lnTo>
                  <a:lnTo>
                    <a:pt x="986702" y="842701"/>
                  </a:lnTo>
                  <a:lnTo>
                    <a:pt x="0" y="842701"/>
                  </a:lnTo>
                  <a:close/>
                </a:path>
              </a:pathLst>
            </a:custGeom>
            <a:blipFill>
              <a:blip r:embed="rId13"/>
              <a:stretch>
                <a:fillRect l="-48127" t="-19088" r="-4817"/>
              </a:stretch>
            </a:blipFill>
          </p:spPr>
          <p:txBody>
            <a:bodyPr/>
            <a:lstStyle/>
            <a:p>
              <a:endParaRPr lang="es-419"/>
            </a:p>
          </p:txBody>
        </p:sp>
      </p:grpSp>
      <p:sp>
        <p:nvSpPr>
          <p:cNvPr id="37" name="TextBox 37"/>
          <p:cNvSpPr txBox="1"/>
          <p:nvPr/>
        </p:nvSpPr>
        <p:spPr>
          <a:xfrm rot="-675323">
            <a:off x="2417872" y="7654312"/>
            <a:ext cx="395774" cy="441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7"/>
              </a:lnSpc>
            </a:pPr>
            <a:r>
              <a:rPr lang="en-US" sz="2839" spc="-88">
                <a:solidFill>
                  <a:srgbClr val="FF0000"/>
                </a:solidFill>
                <a:latin typeface="Poly"/>
                <a:ea typeface="Poly"/>
                <a:cs typeface="Poly"/>
                <a:sym typeface="Poly"/>
              </a:rPr>
              <a:t>3,7</a:t>
            </a:r>
          </a:p>
        </p:txBody>
      </p:sp>
      <p:sp>
        <p:nvSpPr>
          <p:cNvPr id="38" name="TextBox 38"/>
          <p:cNvSpPr txBox="1"/>
          <p:nvPr/>
        </p:nvSpPr>
        <p:spPr>
          <a:xfrm rot="405251">
            <a:off x="9574434" y="7526820"/>
            <a:ext cx="444910" cy="418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6"/>
              </a:lnSpc>
            </a:pPr>
            <a:r>
              <a:rPr lang="en-US" sz="2688" spc="-83">
                <a:solidFill>
                  <a:srgbClr val="FF0000"/>
                </a:solidFill>
                <a:latin typeface="Poly"/>
                <a:ea typeface="Poly"/>
                <a:cs typeface="Poly"/>
                <a:sym typeface="Poly"/>
              </a:rPr>
              <a:t>2,9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064192" y="1150546"/>
            <a:ext cx="6162374" cy="1598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64"/>
              </a:lnSpc>
            </a:pPr>
            <a:r>
              <a:rPr lang="en-US" sz="5220" spc="-161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Evaluación psicopedagógica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82880"/>
            <a:ext cx="10652760" cy="1065276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25187" r="-25187"/>
              </a:stretch>
            </a:blipFill>
          </p:spPr>
          <p:txBody>
            <a:bodyPr/>
            <a:lstStyle/>
            <a:p>
              <a:endParaRPr lang="es-419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272224" y="2360868"/>
            <a:ext cx="9784432" cy="5565264"/>
            <a:chOff x="0" y="0"/>
            <a:chExt cx="2576970" cy="14657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76970" cy="1465749"/>
            </a:xfrm>
            <a:custGeom>
              <a:avLst/>
              <a:gdLst/>
              <a:ahLst/>
              <a:cxnLst/>
              <a:rect l="l" t="t" r="r" b="b"/>
              <a:pathLst>
                <a:path w="2576970" h="1465749">
                  <a:moveTo>
                    <a:pt x="0" y="0"/>
                  </a:moveTo>
                  <a:lnTo>
                    <a:pt x="2576970" y="0"/>
                  </a:lnTo>
                  <a:lnTo>
                    <a:pt x="2576970" y="1465749"/>
                  </a:lnTo>
                  <a:lnTo>
                    <a:pt x="0" y="1465749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576970" cy="15228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706034" y="3114507"/>
            <a:ext cx="6916811" cy="1052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43"/>
              </a:lnSpc>
            </a:pPr>
            <a:r>
              <a:rPr lang="en-US" sz="8399" spc="-260">
                <a:solidFill>
                  <a:srgbClr val="EAEAE8"/>
                </a:solidFill>
                <a:latin typeface="Poly"/>
                <a:ea typeface="Poly"/>
                <a:cs typeface="Poly"/>
                <a:sym typeface="Poly"/>
              </a:rPr>
              <a:t>ATEDA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62844" y="4363036"/>
            <a:ext cx="8403192" cy="2956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54"/>
              </a:lnSpc>
            </a:pPr>
            <a:r>
              <a:rPr lang="en-US" sz="4503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Sistema de alerta temprana para la identificación de estudiantes con posibles dificultades de aprendizaje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8635" y="2622231"/>
            <a:ext cx="1456750" cy="1843988"/>
          </a:xfrm>
          <a:custGeom>
            <a:avLst/>
            <a:gdLst/>
            <a:ahLst/>
            <a:cxnLst/>
            <a:rect l="l" t="t" r="r" b="b"/>
            <a:pathLst>
              <a:path w="1456750" h="1843988">
                <a:moveTo>
                  <a:pt x="0" y="0"/>
                </a:moveTo>
                <a:lnTo>
                  <a:pt x="1456751" y="0"/>
                </a:lnTo>
                <a:lnTo>
                  <a:pt x="1456751" y="1843988"/>
                </a:lnTo>
                <a:lnTo>
                  <a:pt x="0" y="18439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" name="Freeform 3"/>
          <p:cNvSpPr/>
          <p:nvPr/>
        </p:nvSpPr>
        <p:spPr>
          <a:xfrm>
            <a:off x="968555" y="6562529"/>
            <a:ext cx="1684833" cy="1684833"/>
          </a:xfrm>
          <a:custGeom>
            <a:avLst/>
            <a:gdLst/>
            <a:ahLst/>
            <a:cxnLst/>
            <a:rect l="l" t="t" r="r" b="b"/>
            <a:pathLst>
              <a:path w="1684833" h="1684833">
                <a:moveTo>
                  <a:pt x="0" y="0"/>
                </a:moveTo>
                <a:lnTo>
                  <a:pt x="1684833" y="0"/>
                </a:lnTo>
                <a:lnTo>
                  <a:pt x="1684833" y="1684833"/>
                </a:lnTo>
                <a:lnTo>
                  <a:pt x="0" y="16848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4" name="Freeform 4"/>
          <p:cNvSpPr/>
          <p:nvPr/>
        </p:nvSpPr>
        <p:spPr>
          <a:xfrm>
            <a:off x="3138232" y="4278548"/>
            <a:ext cx="1270492" cy="1910515"/>
          </a:xfrm>
          <a:custGeom>
            <a:avLst/>
            <a:gdLst/>
            <a:ahLst/>
            <a:cxnLst/>
            <a:rect l="l" t="t" r="r" b="b"/>
            <a:pathLst>
              <a:path w="1270492" h="1910515">
                <a:moveTo>
                  <a:pt x="0" y="0"/>
                </a:moveTo>
                <a:lnTo>
                  <a:pt x="1270492" y="0"/>
                </a:lnTo>
                <a:lnTo>
                  <a:pt x="1270492" y="1910515"/>
                </a:lnTo>
                <a:lnTo>
                  <a:pt x="0" y="1910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5" name="Freeform 5"/>
          <p:cNvSpPr/>
          <p:nvPr/>
        </p:nvSpPr>
        <p:spPr>
          <a:xfrm rot="-5400000">
            <a:off x="6521173" y="1911628"/>
            <a:ext cx="6308438" cy="6605694"/>
          </a:xfrm>
          <a:custGeom>
            <a:avLst/>
            <a:gdLst/>
            <a:ahLst/>
            <a:cxnLst/>
            <a:rect l="l" t="t" r="r" b="b"/>
            <a:pathLst>
              <a:path w="6308438" h="6605694">
                <a:moveTo>
                  <a:pt x="0" y="0"/>
                </a:moveTo>
                <a:lnTo>
                  <a:pt x="6308438" y="0"/>
                </a:lnTo>
                <a:lnTo>
                  <a:pt x="6308438" y="6605694"/>
                </a:lnTo>
                <a:lnTo>
                  <a:pt x="0" y="66056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6" name="Group 6"/>
          <p:cNvGrpSpPr/>
          <p:nvPr/>
        </p:nvGrpSpPr>
        <p:grpSpPr>
          <a:xfrm>
            <a:off x="9144000" y="4733529"/>
            <a:ext cx="2263992" cy="1031977"/>
            <a:chOff x="0" y="0"/>
            <a:chExt cx="1389854" cy="6335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89854" cy="633526"/>
            </a:xfrm>
            <a:custGeom>
              <a:avLst/>
              <a:gdLst/>
              <a:ahLst/>
              <a:cxnLst/>
              <a:rect l="l" t="t" r="r" b="b"/>
              <a:pathLst>
                <a:path w="1389854" h="633526">
                  <a:moveTo>
                    <a:pt x="174399" y="0"/>
                  </a:moveTo>
                  <a:lnTo>
                    <a:pt x="1215455" y="0"/>
                  </a:lnTo>
                  <a:cubicBezTo>
                    <a:pt x="1261708" y="0"/>
                    <a:pt x="1306067" y="18374"/>
                    <a:pt x="1338773" y="51080"/>
                  </a:cubicBezTo>
                  <a:cubicBezTo>
                    <a:pt x="1371480" y="83786"/>
                    <a:pt x="1389854" y="128146"/>
                    <a:pt x="1389854" y="174399"/>
                  </a:cubicBezTo>
                  <a:lnTo>
                    <a:pt x="1389854" y="459127"/>
                  </a:lnTo>
                  <a:cubicBezTo>
                    <a:pt x="1389854" y="555445"/>
                    <a:pt x="1311773" y="633526"/>
                    <a:pt x="1215455" y="633526"/>
                  </a:cubicBezTo>
                  <a:lnTo>
                    <a:pt x="174399" y="633526"/>
                  </a:lnTo>
                  <a:cubicBezTo>
                    <a:pt x="78081" y="633526"/>
                    <a:pt x="0" y="555445"/>
                    <a:pt x="0" y="459127"/>
                  </a:cubicBezTo>
                  <a:lnTo>
                    <a:pt x="0" y="174399"/>
                  </a:lnTo>
                  <a:cubicBezTo>
                    <a:pt x="0" y="78081"/>
                    <a:pt x="78081" y="0"/>
                    <a:pt x="174399" y="0"/>
                  </a:cubicBez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389854" cy="6906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50202" y="4741843"/>
            <a:ext cx="2250714" cy="1014099"/>
            <a:chOff x="0" y="0"/>
            <a:chExt cx="1381702" cy="62255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81702" cy="622551"/>
            </a:xfrm>
            <a:custGeom>
              <a:avLst/>
              <a:gdLst/>
              <a:ahLst/>
              <a:cxnLst/>
              <a:rect l="l" t="t" r="r" b="b"/>
              <a:pathLst>
                <a:path w="1381702" h="622551">
                  <a:moveTo>
                    <a:pt x="175428" y="0"/>
                  </a:moveTo>
                  <a:lnTo>
                    <a:pt x="1206275" y="0"/>
                  </a:lnTo>
                  <a:cubicBezTo>
                    <a:pt x="1303161" y="0"/>
                    <a:pt x="1381702" y="78542"/>
                    <a:pt x="1381702" y="175428"/>
                  </a:cubicBezTo>
                  <a:lnTo>
                    <a:pt x="1381702" y="447123"/>
                  </a:lnTo>
                  <a:cubicBezTo>
                    <a:pt x="1381702" y="544009"/>
                    <a:pt x="1303161" y="622551"/>
                    <a:pt x="1206275" y="622551"/>
                  </a:cubicBezTo>
                  <a:lnTo>
                    <a:pt x="175428" y="622551"/>
                  </a:lnTo>
                  <a:cubicBezTo>
                    <a:pt x="78542" y="622551"/>
                    <a:pt x="0" y="544009"/>
                    <a:pt x="0" y="447123"/>
                  </a:cubicBezTo>
                  <a:lnTo>
                    <a:pt x="0" y="175428"/>
                  </a:lnTo>
                  <a:cubicBezTo>
                    <a:pt x="0" y="78542"/>
                    <a:pt x="78542" y="0"/>
                    <a:pt x="175428" y="0"/>
                  </a:cubicBezTo>
                  <a:close/>
                </a:path>
              </a:pathLst>
            </a:custGeom>
            <a:solidFill>
              <a:srgbClr val="D8D8D8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381702" cy="6797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5797651" y="1372167"/>
            <a:ext cx="1512552" cy="1512552"/>
          </a:xfrm>
          <a:custGeom>
            <a:avLst/>
            <a:gdLst/>
            <a:ahLst/>
            <a:cxnLst/>
            <a:rect l="l" t="t" r="r" b="b"/>
            <a:pathLst>
              <a:path w="1512552" h="1512552">
                <a:moveTo>
                  <a:pt x="0" y="0"/>
                </a:moveTo>
                <a:lnTo>
                  <a:pt x="1512551" y="0"/>
                </a:lnTo>
                <a:lnTo>
                  <a:pt x="1512551" y="1512551"/>
                </a:lnTo>
                <a:lnTo>
                  <a:pt x="0" y="15125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3" name="Freeform 13"/>
          <p:cNvSpPr/>
          <p:nvPr/>
        </p:nvSpPr>
        <p:spPr>
          <a:xfrm>
            <a:off x="15848553" y="1420098"/>
            <a:ext cx="1410747" cy="1410747"/>
          </a:xfrm>
          <a:custGeom>
            <a:avLst/>
            <a:gdLst/>
            <a:ahLst/>
            <a:cxnLst/>
            <a:rect l="l" t="t" r="r" b="b"/>
            <a:pathLst>
              <a:path w="1410747" h="1410747">
                <a:moveTo>
                  <a:pt x="0" y="0"/>
                </a:moveTo>
                <a:lnTo>
                  <a:pt x="1410747" y="0"/>
                </a:lnTo>
                <a:lnTo>
                  <a:pt x="1410747" y="1410747"/>
                </a:lnTo>
                <a:lnTo>
                  <a:pt x="0" y="1410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4" name="Freeform 14"/>
          <p:cNvSpPr/>
          <p:nvPr/>
        </p:nvSpPr>
        <p:spPr>
          <a:xfrm>
            <a:off x="15797651" y="7405252"/>
            <a:ext cx="1512552" cy="1512552"/>
          </a:xfrm>
          <a:custGeom>
            <a:avLst/>
            <a:gdLst/>
            <a:ahLst/>
            <a:cxnLst/>
            <a:rect l="l" t="t" r="r" b="b"/>
            <a:pathLst>
              <a:path w="1512552" h="1512552">
                <a:moveTo>
                  <a:pt x="0" y="0"/>
                </a:moveTo>
                <a:lnTo>
                  <a:pt x="1512551" y="0"/>
                </a:lnTo>
                <a:lnTo>
                  <a:pt x="1512551" y="1512552"/>
                </a:lnTo>
                <a:lnTo>
                  <a:pt x="0" y="15125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5" name="Freeform 15"/>
          <p:cNvSpPr/>
          <p:nvPr/>
        </p:nvSpPr>
        <p:spPr>
          <a:xfrm>
            <a:off x="15848553" y="7456155"/>
            <a:ext cx="1410747" cy="1410747"/>
          </a:xfrm>
          <a:custGeom>
            <a:avLst/>
            <a:gdLst/>
            <a:ahLst/>
            <a:cxnLst/>
            <a:rect l="l" t="t" r="r" b="b"/>
            <a:pathLst>
              <a:path w="1410747" h="1410747">
                <a:moveTo>
                  <a:pt x="0" y="0"/>
                </a:moveTo>
                <a:lnTo>
                  <a:pt x="1410747" y="0"/>
                </a:lnTo>
                <a:lnTo>
                  <a:pt x="1410747" y="1410747"/>
                </a:lnTo>
                <a:lnTo>
                  <a:pt x="0" y="1410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6" name="Freeform 16"/>
          <p:cNvSpPr/>
          <p:nvPr/>
        </p:nvSpPr>
        <p:spPr>
          <a:xfrm>
            <a:off x="15797651" y="3380018"/>
            <a:ext cx="1512552" cy="1512552"/>
          </a:xfrm>
          <a:custGeom>
            <a:avLst/>
            <a:gdLst/>
            <a:ahLst/>
            <a:cxnLst/>
            <a:rect l="l" t="t" r="r" b="b"/>
            <a:pathLst>
              <a:path w="1512552" h="1512552">
                <a:moveTo>
                  <a:pt x="0" y="0"/>
                </a:moveTo>
                <a:lnTo>
                  <a:pt x="1512551" y="0"/>
                </a:lnTo>
                <a:lnTo>
                  <a:pt x="1512551" y="1512552"/>
                </a:lnTo>
                <a:lnTo>
                  <a:pt x="0" y="15125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7" name="Freeform 17"/>
          <p:cNvSpPr/>
          <p:nvPr/>
        </p:nvSpPr>
        <p:spPr>
          <a:xfrm>
            <a:off x="15848553" y="3430920"/>
            <a:ext cx="1410747" cy="1410747"/>
          </a:xfrm>
          <a:custGeom>
            <a:avLst/>
            <a:gdLst/>
            <a:ahLst/>
            <a:cxnLst/>
            <a:rect l="l" t="t" r="r" b="b"/>
            <a:pathLst>
              <a:path w="1410747" h="1410747">
                <a:moveTo>
                  <a:pt x="0" y="0"/>
                </a:moveTo>
                <a:lnTo>
                  <a:pt x="1410747" y="0"/>
                </a:lnTo>
                <a:lnTo>
                  <a:pt x="1410747" y="1410748"/>
                </a:lnTo>
                <a:lnTo>
                  <a:pt x="0" y="14107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8" name="Freeform 18"/>
          <p:cNvSpPr/>
          <p:nvPr/>
        </p:nvSpPr>
        <p:spPr>
          <a:xfrm>
            <a:off x="15797651" y="5398725"/>
            <a:ext cx="1512552" cy="1512552"/>
          </a:xfrm>
          <a:custGeom>
            <a:avLst/>
            <a:gdLst/>
            <a:ahLst/>
            <a:cxnLst/>
            <a:rect l="l" t="t" r="r" b="b"/>
            <a:pathLst>
              <a:path w="1512552" h="1512552">
                <a:moveTo>
                  <a:pt x="0" y="0"/>
                </a:moveTo>
                <a:lnTo>
                  <a:pt x="1512551" y="0"/>
                </a:lnTo>
                <a:lnTo>
                  <a:pt x="1512551" y="1512551"/>
                </a:lnTo>
                <a:lnTo>
                  <a:pt x="0" y="15125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9" name="Freeform 19"/>
          <p:cNvSpPr/>
          <p:nvPr/>
        </p:nvSpPr>
        <p:spPr>
          <a:xfrm>
            <a:off x="15848553" y="5445332"/>
            <a:ext cx="1410747" cy="1410747"/>
          </a:xfrm>
          <a:custGeom>
            <a:avLst/>
            <a:gdLst/>
            <a:ahLst/>
            <a:cxnLst/>
            <a:rect l="l" t="t" r="r" b="b"/>
            <a:pathLst>
              <a:path w="1410747" h="1410747">
                <a:moveTo>
                  <a:pt x="0" y="0"/>
                </a:moveTo>
                <a:lnTo>
                  <a:pt x="1410747" y="0"/>
                </a:lnTo>
                <a:lnTo>
                  <a:pt x="1410747" y="1410748"/>
                </a:lnTo>
                <a:lnTo>
                  <a:pt x="0" y="14107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20" name="Freeform 20"/>
          <p:cNvSpPr/>
          <p:nvPr/>
        </p:nvSpPr>
        <p:spPr>
          <a:xfrm rot="-5400000">
            <a:off x="4341923" y="4419664"/>
            <a:ext cx="2269891" cy="1520827"/>
          </a:xfrm>
          <a:custGeom>
            <a:avLst/>
            <a:gdLst/>
            <a:ahLst/>
            <a:cxnLst/>
            <a:rect l="l" t="t" r="r" b="b"/>
            <a:pathLst>
              <a:path w="2269891" h="1520827">
                <a:moveTo>
                  <a:pt x="0" y="0"/>
                </a:moveTo>
                <a:lnTo>
                  <a:pt x="2269890" y="0"/>
                </a:lnTo>
                <a:lnTo>
                  <a:pt x="2269890" y="1520827"/>
                </a:lnTo>
                <a:lnTo>
                  <a:pt x="0" y="15208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21" name="Freeform 21"/>
          <p:cNvSpPr/>
          <p:nvPr/>
        </p:nvSpPr>
        <p:spPr>
          <a:xfrm>
            <a:off x="13444965" y="3466064"/>
            <a:ext cx="1414959" cy="1513325"/>
          </a:xfrm>
          <a:custGeom>
            <a:avLst/>
            <a:gdLst/>
            <a:ahLst/>
            <a:cxnLst/>
            <a:rect l="l" t="t" r="r" b="b"/>
            <a:pathLst>
              <a:path w="1414959" h="1513325">
                <a:moveTo>
                  <a:pt x="0" y="0"/>
                </a:moveTo>
                <a:lnTo>
                  <a:pt x="1414958" y="0"/>
                </a:lnTo>
                <a:lnTo>
                  <a:pt x="1414958" y="1513325"/>
                </a:lnTo>
                <a:lnTo>
                  <a:pt x="0" y="15133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419"/>
          </a:p>
        </p:txBody>
      </p:sp>
      <p:sp>
        <p:nvSpPr>
          <p:cNvPr id="22" name="Freeform 22"/>
          <p:cNvSpPr/>
          <p:nvPr/>
        </p:nvSpPr>
        <p:spPr>
          <a:xfrm flipV="1">
            <a:off x="13444965" y="5449562"/>
            <a:ext cx="1414959" cy="1513325"/>
          </a:xfrm>
          <a:custGeom>
            <a:avLst/>
            <a:gdLst/>
            <a:ahLst/>
            <a:cxnLst/>
            <a:rect l="l" t="t" r="r" b="b"/>
            <a:pathLst>
              <a:path w="1414959" h="1513325">
                <a:moveTo>
                  <a:pt x="0" y="1513325"/>
                </a:moveTo>
                <a:lnTo>
                  <a:pt x="1414958" y="1513325"/>
                </a:lnTo>
                <a:lnTo>
                  <a:pt x="1414958" y="0"/>
                </a:lnTo>
                <a:lnTo>
                  <a:pt x="0" y="0"/>
                </a:lnTo>
                <a:lnTo>
                  <a:pt x="0" y="151332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419"/>
          </a:p>
        </p:txBody>
      </p:sp>
      <p:sp>
        <p:nvSpPr>
          <p:cNvPr id="23" name="Freeform 23"/>
          <p:cNvSpPr/>
          <p:nvPr/>
        </p:nvSpPr>
        <p:spPr>
          <a:xfrm>
            <a:off x="13444965" y="5114111"/>
            <a:ext cx="1724931" cy="284614"/>
          </a:xfrm>
          <a:custGeom>
            <a:avLst/>
            <a:gdLst/>
            <a:ahLst/>
            <a:cxnLst/>
            <a:rect l="l" t="t" r="r" b="b"/>
            <a:pathLst>
              <a:path w="1724931" h="284614">
                <a:moveTo>
                  <a:pt x="0" y="0"/>
                </a:moveTo>
                <a:lnTo>
                  <a:pt x="1724930" y="0"/>
                </a:lnTo>
                <a:lnTo>
                  <a:pt x="1724930" y="284614"/>
                </a:lnTo>
                <a:lnTo>
                  <a:pt x="0" y="2846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419"/>
          </a:p>
        </p:txBody>
      </p:sp>
      <p:sp>
        <p:nvSpPr>
          <p:cNvPr id="24" name="Freeform 24"/>
          <p:cNvSpPr/>
          <p:nvPr/>
        </p:nvSpPr>
        <p:spPr>
          <a:xfrm>
            <a:off x="10727063" y="4522981"/>
            <a:ext cx="680929" cy="657096"/>
          </a:xfrm>
          <a:custGeom>
            <a:avLst/>
            <a:gdLst/>
            <a:ahLst/>
            <a:cxnLst/>
            <a:rect l="l" t="t" r="r" b="b"/>
            <a:pathLst>
              <a:path w="680929" h="657096">
                <a:moveTo>
                  <a:pt x="0" y="0"/>
                </a:moveTo>
                <a:lnTo>
                  <a:pt x="680929" y="0"/>
                </a:lnTo>
                <a:lnTo>
                  <a:pt x="680929" y="657097"/>
                </a:lnTo>
                <a:lnTo>
                  <a:pt x="0" y="6570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25" name="Group 25"/>
          <p:cNvGrpSpPr/>
          <p:nvPr/>
        </p:nvGrpSpPr>
        <p:grpSpPr>
          <a:xfrm>
            <a:off x="6372545" y="2830845"/>
            <a:ext cx="1121230" cy="5012565"/>
            <a:chOff x="0" y="0"/>
            <a:chExt cx="463961" cy="207418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63961" cy="2074184"/>
            </a:xfrm>
            <a:custGeom>
              <a:avLst/>
              <a:gdLst/>
              <a:ahLst/>
              <a:cxnLst/>
              <a:rect l="l" t="t" r="r" b="b"/>
              <a:pathLst>
                <a:path w="463961" h="2074184">
                  <a:moveTo>
                    <a:pt x="231981" y="0"/>
                  </a:moveTo>
                  <a:cubicBezTo>
                    <a:pt x="103861" y="0"/>
                    <a:pt x="0" y="464322"/>
                    <a:pt x="0" y="1037092"/>
                  </a:cubicBezTo>
                  <a:cubicBezTo>
                    <a:pt x="0" y="1609862"/>
                    <a:pt x="103861" y="2074184"/>
                    <a:pt x="231981" y="2074184"/>
                  </a:cubicBezTo>
                  <a:cubicBezTo>
                    <a:pt x="360100" y="2074184"/>
                    <a:pt x="463961" y="1609862"/>
                    <a:pt x="463961" y="1037092"/>
                  </a:cubicBezTo>
                  <a:cubicBezTo>
                    <a:pt x="463961" y="464322"/>
                    <a:pt x="360100" y="0"/>
                    <a:pt x="23198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496" y="137305"/>
              <a:ext cx="376969" cy="1742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422577" y="4891425"/>
            <a:ext cx="1705965" cy="675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1"/>
              </a:lnSpc>
            </a:pPr>
            <a:r>
              <a:rPr lang="en-US" sz="4368" spc="-135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ATEDA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50146" y="2050731"/>
            <a:ext cx="2154736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spc="-86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Calificaciones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965765" y="3605379"/>
            <a:ext cx="1615426" cy="617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</a:pPr>
            <a:r>
              <a:rPr lang="en-US" sz="2799" spc="-86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%</a:t>
            </a:r>
          </a:p>
          <a:p>
            <a:pPr algn="ctr">
              <a:lnSpc>
                <a:spcPts val="2323"/>
              </a:lnSpc>
            </a:pPr>
            <a:r>
              <a:rPr lang="en-US" sz="2799" spc="-86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Asistencia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50146" y="5735561"/>
            <a:ext cx="1982658" cy="686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2799" spc="-86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Informe Conductual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87693" y="1548233"/>
            <a:ext cx="1512552" cy="1512552"/>
          </a:xfrm>
          <a:custGeom>
            <a:avLst/>
            <a:gdLst/>
            <a:ahLst/>
            <a:cxnLst/>
            <a:rect l="l" t="t" r="r" b="b"/>
            <a:pathLst>
              <a:path w="1512552" h="1512552">
                <a:moveTo>
                  <a:pt x="0" y="0"/>
                </a:moveTo>
                <a:lnTo>
                  <a:pt x="1512552" y="0"/>
                </a:lnTo>
                <a:lnTo>
                  <a:pt x="1512552" y="1512551"/>
                </a:lnTo>
                <a:lnTo>
                  <a:pt x="0" y="15125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" name="Freeform 3"/>
          <p:cNvSpPr/>
          <p:nvPr/>
        </p:nvSpPr>
        <p:spPr>
          <a:xfrm>
            <a:off x="5338595" y="1596164"/>
            <a:ext cx="1410747" cy="1410747"/>
          </a:xfrm>
          <a:custGeom>
            <a:avLst/>
            <a:gdLst/>
            <a:ahLst/>
            <a:cxnLst/>
            <a:rect l="l" t="t" r="r" b="b"/>
            <a:pathLst>
              <a:path w="1410747" h="1410747">
                <a:moveTo>
                  <a:pt x="0" y="0"/>
                </a:moveTo>
                <a:lnTo>
                  <a:pt x="1410747" y="0"/>
                </a:lnTo>
                <a:lnTo>
                  <a:pt x="1410747" y="1410747"/>
                </a:lnTo>
                <a:lnTo>
                  <a:pt x="0" y="1410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4" name="Freeform 4"/>
          <p:cNvSpPr/>
          <p:nvPr/>
        </p:nvSpPr>
        <p:spPr>
          <a:xfrm>
            <a:off x="5287693" y="7581318"/>
            <a:ext cx="1512552" cy="1512552"/>
          </a:xfrm>
          <a:custGeom>
            <a:avLst/>
            <a:gdLst/>
            <a:ahLst/>
            <a:cxnLst/>
            <a:rect l="l" t="t" r="r" b="b"/>
            <a:pathLst>
              <a:path w="1512552" h="1512552">
                <a:moveTo>
                  <a:pt x="0" y="0"/>
                </a:moveTo>
                <a:lnTo>
                  <a:pt x="1512552" y="0"/>
                </a:lnTo>
                <a:lnTo>
                  <a:pt x="1512552" y="1512552"/>
                </a:lnTo>
                <a:lnTo>
                  <a:pt x="0" y="15125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5" name="Freeform 5"/>
          <p:cNvSpPr/>
          <p:nvPr/>
        </p:nvSpPr>
        <p:spPr>
          <a:xfrm>
            <a:off x="5338595" y="7632221"/>
            <a:ext cx="1410747" cy="1410747"/>
          </a:xfrm>
          <a:custGeom>
            <a:avLst/>
            <a:gdLst/>
            <a:ahLst/>
            <a:cxnLst/>
            <a:rect l="l" t="t" r="r" b="b"/>
            <a:pathLst>
              <a:path w="1410747" h="1410747">
                <a:moveTo>
                  <a:pt x="0" y="0"/>
                </a:moveTo>
                <a:lnTo>
                  <a:pt x="1410747" y="0"/>
                </a:lnTo>
                <a:lnTo>
                  <a:pt x="1410747" y="1410747"/>
                </a:lnTo>
                <a:lnTo>
                  <a:pt x="0" y="1410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6" name="Freeform 6"/>
          <p:cNvSpPr/>
          <p:nvPr/>
        </p:nvSpPr>
        <p:spPr>
          <a:xfrm>
            <a:off x="5287693" y="3556084"/>
            <a:ext cx="1512552" cy="1512552"/>
          </a:xfrm>
          <a:custGeom>
            <a:avLst/>
            <a:gdLst/>
            <a:ahLst/>
            <a:cxnLst/>
            <a:rect l="l" t="t" r="r" b="b"/>
            <a:pathLst>
              <a:path w="1512552" h="1512552">
                <a:moveTo>
                  <a:pt x="0" y="0"/>
                </a:moveTo>
                <a:lnTo>
                  <a:pt x="1512552" y="0"/>
                </a:lnTo>
                <a:lnTo>
                  <a:pt x="1512552" y="1512552"/>
                </a:lnTo>
                <a:lnTo>
                  <a:pt x="0" y="15125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7" name="Freeform 7"/>
          <p:cNvSpPr/>
          <p:nvPr/>
        </p:nvSpPr>
        <p:spPr>
          <a:xfrm>
            <a:off x="5338595" y="3606986"/>
            <a:ext cx="1410747" cy="1410747"/>
          </a:xfrm>
          <a:custGeom>
            <a:avLst/>
            <a:gdLst/>
            <a:ahLst/>
            <a:cxnLst/>
            <a:rect l="l" t="t" r="r" b="b"/>
            <a:pathLst>
              <a:path w="1410747" h="1410747">
                <a:moveTo>
                  <a:pt x="0" y="0"/>
                </a:moveTo>
                <a:lnTo>
                  <a:pt x="1410747" y="0"/>
                </a:lnTo>
                <a:lnTo>
                  <a:pt x="1410747" y="1410748"/>
                </a:lnTo>
                <a:lnTo>
                  <a:pt x="0" y="14107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8" name="Freeform 8"/>
          <p:cNvSpPr/>
          <p:nvPr/>
        </p:nvSpPr>
        <p:spPr>
          <a:xfrm>
            <a:off x="5287693" y="5574791"/>
            <a:ext cx="1512552" cy="1512552"/>
          </a:xfrm>
          <a:custGeom>
            <a:avLst/>
            <a:gdLst/>
            <a:ahLst/>
            <a:cxnLst/>
            <a:rect l="l" t="t" r="r" b="b"/>
            <a:pathLst>
              <a:path w="1512552" h="1512552">
                <a:moveTo>
                  <a:pt x="0" y="0"/>
                </a:moveTo>
                <a:lnTo>
                  <a:pt x="1512552" y="0"/>
                </a:lnTo>
                <a:lnTo>
                  <a:pt x="1512552" y="1512551"/>
                </a:lnTo>
                <a:lnTo>
                  <a:pt x="0" y="15125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9" name="Freeform 9"/>
          <p:cNvSpPr/>
          <p:nvPr/>
        </p:nvSpPr>
        <p:spPr>
          <a:xfrm>
            <a:off x="5338595" y="5621399"/>
            <a:ext cx="1410747" cy="1410747"/>
          </a:xfrm>
          <a:custGeom>
            <a:avLst/>
            <a:gdLst/>
            <a:ahLst/>
            <a:cxnLst/>
            <a:rect l="l" t="t" r="r" b="b"/>
            <a:pathLst>
              <a:path w="1410747" h="1410747">
                <a:moveTo>
                  <a:pt x="0" y="0"/>
                </a:moveTo>
                <a:lnTo>
                  <a:pt x="1410747" y="0"/>
                </a:lnTo>
                <a:lnTo>
                  <a:pt x="1410747" y="1410747"/>
                </a:lnTo>
                <a:lnTo>
                  <a:pt x="0" y="1410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0" name="TextBox 10"/>
          <p:cNvSpPr txBox="1"/>
          <p:nvPr/>
        </p:nvSpPr>
        <p:spPr>
          <a:xfrm>
            <a:off x="7692492" y="1828345"/>
            <a:ext cx="4798300" cy="942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82"/>
              </a:lnSpc>
            </a:pPr>
            <a:r>
              <a:rPr lang="en-US" sz="6235" spc="-193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Observación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92492" y="3836196"/>
            <a:ext cx="4798300" cy="942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82"/>
              </a:lnSpc>
            </a:pPr>
            <a:r>
              <a:rPr lang="en-US" sz="6235" spc="-193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Atención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92492" y="5845799"/>
            <a:ext cx="4798300" cy="942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82"/>
              </a:lnSpc>
            </a:pPr>
            <a:r>
              <a:rPr lang="en-US" sz="6235" spc="-193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Revisión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92492" y="7855402"/>
            <a:ext cx="4798300" cy="942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82"/>
              </a:lnSpc>
            </a:pPr>
            <a:r>
              <a:rPr lang="en-US" sz="6235" spc="-193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Intervención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129857"/>
            <a:ext cx="5967686" cy="5143500"/>
            <a:chOff x="0" y="0"/>
            <a:chExt cx="1571736" cy="13546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71736" cy="1354667"/>
            </a:xfrm>
            <a:custGeom>
              <a:avLst/>
              <a:gdLst/>
              <a:ahLst/>
              <a:cxnLst/>
              <a:rect l="l" t="t" r="r" b="b"/>
              <a:pathLst>
                <a:path w="1571736" h="1354667">
                  <a:moveTo>
                    <a:pt x="0" y="0"/>
                  </a:moveTo>
                  <a:lnTo>
                    <a:pt x="1571736" y="0"/>
                  </a:lnTo>
                  <a:lnTo>
                    <a:pt x="1571736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571736" cy="1392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127843" y="5143500"/>
            <a:ext cx="6160157" cy="5143500"/>
            <a:chOff x="0" y="0"/>
            <a:chExt cx="1622428" cy="13546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22428" cy="1354667"/>
            </a:xfrm>
            <a:custGeom>
              <a:avLst/>
              <a:gdLst/>
              <a:ahLst/>
              <a:cxnLst/>
              <a:rect l="l" t="t" r="r" b="b"/>
              <a:pathLst>
                <a:path w="1622428" h="1354667">
                  <a:moveTo>
                    <a:pt x="0" y="0"/>
                  </a:moveTo>
                  <a:lnTo>
                    <a:pt x="1622428" y="0"/>
                  </a:lnTo>
                  <a:lnTo>
                    <a:pt x="1622428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622428" cy="1392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67686" y="-1030300"/>
            <a:ext cx="6160157" cy="616015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r="-50375"/>
              </a:stretch>
            </a:blipFill>
          </p:spPr>
          <p:txBody>
            <a:bodyPr/>
            <a:lstStyle/>
            <a:p>
              <a:endParaRPr lang="es-419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5963204" y="437860"/>
            <a:ext cx="1364229" cy="1595589"/>
          </a:xfrm>
          <a:custGeom>
            <a:avLst/>
            <a:gdLst/>
            <a:ahLst/>
            <a:cxnLst/>
            <a:rect l="l" t="t" r="r" b="b"/>
            <a:pathLst>
              <a:path w="1364229" h="1595589">
                <a:moveTo>
                  <a:pt x="0" y="0"/>
                </a:moveTo>
                <a:lnTo>
                  <a:pt x="1364229" y="0"/>
                </a:lnTo>
                <a:lnTo>
                  <a:pt x="1364229" y="1595590"/>
                </a:lnTo>
                <a:lnTo>
                  <a:pt x="0" y="15955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1" name="Freeform 11"/>
          <p:cNvSpPr/>
          <p:nvPr/>
        </p:nvSpPr>
        <p:spPr>
          <a:xfrm>
            <a:off x="12718393" y="2049779"/>
            <a:ext cx="1720792" cy="2641734"/>
          </a:xfrm>
          <a:custGeom>
            <a:avLst/>
            <a:gdLst/>
            <a:ahLst/>
            <a:cxnLst/>
            <a:rect l="l" t="t" r="r" b="b"/>
            <a:pathLst>
              <a:path w="1720792" h="2641734">
                <a:moveTo>
                  <a:pt x="0" y="0"/>
                </a:moveTo>
                <a:lnTo>
                  <a:pt x="1720792" y="0"/>
                </a:lnTo>
                <a:lnTo>
                  <a:pt x="1720792" y="2641733"/>
                </a:lnTo>
                <a:lnTo>
                  <a:pt x="0" y="26417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2615" b="-105683"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2" name="Freeform 12"/>
          <p:cNvSpPr/>
          <p:nvPr/>
        </p:nvSpPr>
        <p:spPr>
          <a:xfrm>
            <a:off x="7333265" y="5106467"/>
            <a:ext cx="3429000" cy="5143500"/>
          </a:xfrm>
          <a:custGeom>
            <a:avLst/>
            <a:gdLst/>
            <a:ahLst/>
            <a:cxnLst/>
            <a:rect l="l" t="t" r="r" b="b"/>
            <a:pathLst>
              <a:path w="3429000" h="5143500">
                <a:moveTo>
                  <a:pt x="0" y="0"/>
                </a:moveTo>
                <a:lnTo>
                  <a:pt x="3429000" y="0"/>
                </a:lnTo>
                <a:lnTo>
                  <a:pt x="3429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3" name="TextBox 13"/>
          <p:cNvSpPr txBox="1"/>
          <p:nvPr/>
        </p:nvSpPr>
        <p:spPr>
          <a:xfrm>
            <a:off x="12867290" y="6124285"/>
            <a:ext cx="4496088" cy="3134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43178" lvl="1" indent="-521589" algn="l">
              <a:lnSpc>
                <a:spcPts val="6281"/>
              </a:lnSpc>
              <a:buFont typeface="Arial"/>
              <a:buChar char="•"/>
            </a:pPr>
            <a:r>
              <a:rPr lang="en-US" sz="483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Profesores</a:t>
            </a:r>
          </a:p>
          <a:p>
            <a:pPr marL="1043178" lvl="1" indent="-521589" algn="l">
              <a:lnSpc>
                <a:spcPts val="6281"/>
              </a:lnSpc>
              <a:buFont typeface="Arial"/>
              <a:buChar char="•"/>
            </a:pPr>
            <a:r>
              <a:rPr lang="en-US" sz="483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Dirección</a:t>
            </a:r>
          </a:p>
          <a:p>
            <a:pPr marL="1043178" lvl="1" indent="-521589" algn="l">
              <a:lnSpc>
                <a:spcPts val="6281"/>
              </a:lnSpc>
              <a:buFont typeface="Arial"/>
              <a:buChar char="•"/>
            </a:pPr>
            <a:r>
              <a:rPr lang="en-US" sz="483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UTP</a:t>
            </a:r>
          </a:p>
          <a:p>
            <a:pPr marL="1043178" lvl="1" indent="-521589" algn="l">
              <a:lnSpc>
                <a:spcPts val="6281"/>
              </a:lnSpc>
              <a:buFont typeface="Arial"/>
              <a:buChar char="•"/>
            </a:pPr>
            <a:r>
              <a:rPr lang="en-US" sz="483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Apoderados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38021" y="6259351"/>
            <a:ext cx="4491645" cy="741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79"/>
              </a:lnSpc>
            </a:pPr>
            <a:r>
              <a:rPr lang="en-US" sz="4599" b="1">
                <a:solidFill>
                  <a:srgbClr val="D8D8D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Psicopedagogía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959488" y="700356"/>
            <a:ext cx="3536300" cy="842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45"/>
              </a:lnSpc>
            </a:pPr>
            <a:r>
              <a:rPr lang="en-US" sz="5496" dirty="0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1° </a:t>
            </a:r>
            <a:r>
              <a:rPr lang="en-US" sz="5496" dirty="0" err="1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Básico</a:t>
            </a:r>
            <a:endParaRPr lang="en-US" sz="5496" dirty="0">
              <a:solidFill>
                <a:srgbClr val="1A1A1A"/>
              </a:solidFill>
              <a:latin typeface="Poly"/>
              <a:ea typeface="Poly"/>
              <a:cs typeface="Poly"/>
              <a:sym typeface="Poly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28700" y="1019175"/>
            <a:ext cx="4022584" cy="301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75"/>
              </a:lnSpc>
            </a:pPr>
            <a:r>
              <a:rPr lang="en-US" sz="6563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Contexto, usuarios e intereses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794360" y="3191117"/>
            <a:ext cx="3008601" cy="901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45"/>
              </a:lnSpc>
            </a:pPr>
            <a:r>
              <a:rPr lang="en-US" sz="5496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IV Medio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45497" y="7573442"/>
            <a:ext cx="1876693" cy="1749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81"/>
              </a:lnSpc>
            </a:pPr>
            <a:r>
              <a:rPr lang="en-US" sz="10832" b="1">
                <a:solidFill>
                  <a:srgbClr val="D8D8D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PIE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07247" y="0"/>
            <a:ext cx="8060973" cy="10656449"/>
            <a:chOff x="0" y="0"/>
            <a:chExt cx="10747964" cy="1420859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1873" r="39502"/>
            <a:stretch>
              <a:fillRect/>
            </a:stretch>
          </p:blipFill>
          <p:spPr>
            <a:xfrm>
              <a:off x="0" y="0"/>
              <a:ext cx="10747964" cy="14208599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7476068" y="1171483"/>
            <a:ext cx="6526561" cy="2357773"/>
            <a:chOff x="0" y="0"/>
            <a:chExt cx="1718930" cy="62097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18930" cy="620977"/>
            </a:xfrm>
            <a:custGeom>
              <a:avLst/>
              <a:gdLst/>
              <a:ahLst/>
              <a:cxnLst/>
              <a:rect l="l" t="t" r="r" b="b"/>
              <a:pathLst>
                <a:path w="1718930" h="620977">
                  <a:moveTo>
                    <a:pt x="0" y="0"/>
                  </a:moveTo>
                  <a:lnTo>
                    <a:pt x="1718930" y="0"/>
                  </a:lnTo>
                  <a:lnTo>
                    <a:pt x="1718930" y="620977"/>
                  </a:lnTo>
                  <a:lnTo>
                    <a:pt x="0" y="620977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718930" cy="6781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76068" y="4036005"/>
            <a:ext cx="6526561" cy="2357773"/>
            <a:chOff x="0" y="0"/>
            <a:chExt cx="1718930" cy="62097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18930" cy="620977"/>
            </a:xfrm>
            <a:custGeom>
              <a:avLst/>
              <a:gdLst/>
              <a:ahLst/>
              <a:cxnLst/>
              <a:rect l="l" t="t" r="r" b="b"/>
              <a:pathLst>
                <a:path w="1718930" h="620977">
                  <a:moveTo>
                    <a:pt x="0" y="0"/>
                  </a:moveTo>
                  <a:lnTo>
                    <a:pt x="1718930" y="0"/>
                  </a:lnTo>
                  <a:lnTo>
                    <a:pt x="1718930" y="620977"/>
                  </a:lnTo>
                  <a:lnTo>
                    <a:pt x="0" y="620977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718930" cy="6781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269704" y="1028700"/>
            <a:ext cx="968029" cy="863183"/>
            <a:chOff x="0" y="0"/>
            <a:chExt cx="254954" cy="2273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54954" cy="227340"/>
            </a:xfrm>
            <a:custGeom>
              <a:avLst/>
              <a:gdLst/>
              <a:ahLst/>
              <a:cxnLst/>
              <a:rect l="l" t="t" r="r" b="b"/>
              <a:pathLst>
                <a:path w="254954" h="227340">
                  <a:moveTo>
                    <a:pt x="0" y="0"/>
                  </a:moveTo>
                  <a:lnTo>
                    <a:pt x="254954" y="0"/>
                  </a:lnTo>
                  <a:lnTo>
                    <a:pt x="254954" y="227340"/>
                  </a:lnTo>
                  <a:lnTo>
                    <a:pt x="0" y="2273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54954" cy="284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269704" y="3893222"/>
            <a:ext cx="968029" cy="863183"/>
            <a:chOff x="0" y="0"/>
            <a:chExt cx="254954" cy="2273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54954" cy="227340"/>
            </a:xfrm>
            <a:custGeom>
              <a:avLst/>
              <a:gdLst/>
              <a:ahLst/>
              <a:cxnLst/>
              <a:rect l="l" t="t" r="r" b="b"/>
              <a:pathLst>
                <a:path w="254954" h="227340">
                  <a:moveTo>
                    <a:pt x="0" y="0"/>
                  </a:moveTo>
                  <a:lnTo>
                    <a:pt x="254954" y="0"/>
                  </a:lnTo>
                  <a:lnTo>
                    <a:pt x="254954" y="227340"/>
                  </a:lnTo>
                  <a:lnTo>
                    <a:pt x="0" y="2273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54954" cy="284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476068" y="6900527"/>
            <a:ext cx="6526561" cy="2357773"/>
            <a:chOff x="0" y="0"/>
            <a:chExt cx="1718930" cy="62097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18930" cy="620977"/>
            </a:xfrm>
            <a:custGeom>
              <a:avLst/>
              <a:gdLst/>
              <a:ahLst/>
              <a:cxnLst/>
              <a:rect l="l" t="t" r="r" b="b"/>
              <a:pathLst>
                <a:path w="1718930" h="620977">
                  <a:moveTo>
                    <a:pt x="0" y="0"/>
                  </a:moveTo>
                  <a:lnTo>
                    <a:pt x="1718930" y="0"/>
                  </a:lnTo>
                  <a:lnTo>
                    <a:pt x="1718930" y="620977"/>
                  </a:lnTo>
                  <a:lnTo>
                    <a:pt x="0" y="620977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1718930" cy="6781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872071" y="5344649"/>
            <a:ext cx="3723894" cy="4114800"/>
          </a:xfrm>
          <a:custGeom>
            <a:avLst/>
            <a:gdLst/>
            <a:ahLst/>
            <a:cxnLst/>
            <a:rect l="l" t="t" r="r" b="b"/>
            <a:pathLst>
              <a:path w="3723894" h="4114800">
                <a:moveTo>
                  <a:pt x="0" y="0"/>
                </a:moveTo>
                <a:lnTo>
                  <a:pt x="3723894" y="0"/>
                </a:lnTo>
                <a:lnTo>
                  <a:pt x="37238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20" name="Group 20"/>
          <p:cNvGrpSpPr/>
          <p:nvPr/>
        </p:nvGrpSpPr>
        <p:grpSpPr>
          <a:xfrm>
            <a:off x="329137" y="5975055"/>
            <a:ext cx="3271022" cy="837447"/>
            <a:chOff x="0" y="0"/>
            <a:chExt cx="861504" cy="22056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61504" cy="220562"/>
            </a:xfrm>
            <a:custGeom>
              <a:avLst/>
              <a:gdLst/>
              <a:ahLst/>
              <a:cxnLst/>
              <a:rect l="l" t="t" r="r" b="b"/>
              <a:pathLst>
                <a:path w="861504" h="220562">
                  <a:moveTo>
                    <a:pt x="110281" y="0"/>
                  </a:moveTo>
                  <a:lnTo>
                    <a:pt x="751223" y="0"/>
                  </a:lnTo>
                  <a:cubicBezTo>
                    <a:pt x="780471" y="0"/>
                    <a:pt x="808521" y="11619"/>
                    <a:pt x="829203" y="32301"/>
                  </a:cubicBezTo>
                  <a:cubicBezTo>
                    <a:pt x="849885" y="52982"/>
                    <a:pt x="861504" y="81033"/>
                    <a:pt x="861504" y="110281"/>
                  </a:cubicBezTo>
                  <a:lnTo>
                    <a:pt x="861504" y="110281"/>
                  </a:lnTo>
                  <a:cubicBezTo>
                    <a:pt x="861504" y="171188"/>
                    <a:pt x="812129" y="220562"/>
                    <a:pt x="751223" y="220562"/>
                  </a:cubicBezTo>
                  <a:lnTo>
                    <a:pt x="110281" y="220562"/>
                  </a:lnTo>
                  <a:cubicBezTo>
                    <a:pt x="49375" y="220562"/>
                    <a:pt x="0" y="171188"/>
                    <a:pt x="0" y="110281"/>
                  </a:cubicBezTo>
                  <a:lnTo>
                    <a:pt x="0" y="110281"/>
                  </a:lnTo>
                  <a:cubicBezTo>
                    <a:pt x="0" y="49375"/>
                    <a:pt x="49375" y="0"/>
                    <a:pt x="110281" y="0"/>
                  </a:cubicBez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861504" cy="277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94133" y="6026653"/>
            <a:ext cx="3141030" cy="731090"/>
            <a:chOff x="0" y="0"/>
            <a:chExt cx="827267" cy="1925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27267" cy="192550"/>
            </a:xfrm>
            <a:custGeom>
              <a:avLst/>
              <a:gdLst/>
              <a:ahLst/>
              <a:cxnLst/>
              <a:rect l="l" t="t" r="r" b="b"/>
              <a:pathLst>
                <a:path w="827267" h="192550">
                  <a:moveTo>
                    <a:pt x="96275" y="0"/>
                  </a:moveTo>
                  <a:lnTo>
                    <a:pt x="730992" y="0"/>
                  </a:lnTo>
                  <a:cubicBezTo>
                    <a:pt x="756526" y="0"/>
                    <a:pt x="781014" y="10143"/>
                    <a:pt x="799069" y="28198"/>
                  </a:cubicBezTo>
                  <a:cubicBezTo>
                    <a:pt x="817124" y="46253"/>
                    <a:pt x="827267" y="70741"/>
                    <a:pt x="827267" y="96275"/>
                  </a:cubicBezTo>
                  <a:lnTo>
                    <a:pt x="827267" y="96275"/>
                  </a:lnTo>
                  <a:cubicBezTo>
                    <a:pt x="827267" y="121809"/>
                    <a:pt x="817124" y="146297"/>
                    <a:pt x="799069" y="164352"/>
                  </a:cubicBezTo>
                  <a:cubicBezTo>
                    <a:pt x="781014" y="182407"/>
                    <a:pt x="756526" y="192550"/>
                    <a:pt x="730992" y="192550"/>
                  </a:cubicBezTo>
                  <a:lnTo>
                    <a:pt x="96275" y="192550"/>
                  </a:lnTo>
                  <a:cubicBezTo>
                    <a:pt x="70741" y="192550"/>
                    <a:pt x="46253" y="182407"/>
                    <a:pt x="28198" y="164352"/>
                  </a:cubicBezTo>
                  <a:cubicBezTo>
                    <a:pt x="10143" y="146297"/>
                    <a:pt x="0" y="121809"/>
                    <a:pt x="0" y="96275"/>
                  </a:cubicBezTo>
                  <a:lnTo>
                    <a:pt x="0" y="96275"/>
                  </a:lnTo>
                  <a:cubicBezTo>
                    <a:pt x="0" y="70741"/>
                    <a:pt x="10143" y="46253"/>
                    <a:pt x="28198" y="28198"/>
                  </a:cubicBezTo>
                  <a:cubicBezTo>
                    <a:pt x="46253" y="10143"/>
                    <a:pt x="70741" y="0"/>
                    <a:pt x="96275" y="0"/>
                  </a:cubicBezTo>
                  <a:close/>
                </a:path>
              </a:pathLst>
            </a:custGeom>
            <a:solidFill>
              <a:srgbClr val="D8D8D8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827267" cy="24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244570" y="7816350"/>
            <a:ext cx="2510756" cy="894639"/>
            <a:chOff x="0" y="0"/>
            <a:chExt cx="624633" cy="22257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24633" cy="222571"/>
            </a:xfrm>
            <a:custGeom>
              <a:avLst/>
              <a:gdLst/>
              <a:ahLst/>
              <a:cxnLst/>
              <a:rect l="l" t="t" r="r" b="b"/>
              <a:pathLst>
                <a:path w="624633" h="222571">
                  <a:moveTo>
                    <a:pt x="111285" y="0"/>
                  </a:moveTo>
                  <a:lnTo>
                    <a:pt x="513348" y="0"/>
                  </a:lnTo>
                  <a:cubicBezTo>
                    <a:pt x="542863" y="0"/>
                    <a:pt x="571168" y="11725"/>
                    <a:pt x="592038" y="32595"/>
                  </a:cubicBezTo>
                  <a:cubicBezTo>
                    <a:pt x="612909" y="53465"/>
                    <a:pt x="624633" y="81771"/>
                    <a:pt x="624633" y="111285"/>
                  </a:cubicBezTo>
                  <a:lnTo>
                    <a:pt x="624633" y="111285"/>
                  </a:lnTo>
                  <a:cubicBezTo>
                    <a:pt x="624633" y="172747"/>
                    <a:pt x="574809" y="222571"/>
                    <a:pt x="513348" y="222571"/>
                  </a:cubicBezTo>
                  <a:lnTo>
                    <a:pt x="111285" y="222571"/>
                  </a:lnTo>
                  <a:cubicBezTo>
                    <a:pt x="49824" y="222571"/>
                    <a:pt x="0" y="172747"/>
                    <a:pt x="0" y="111285"/>
                  </a:cubicBezTo>
                  <a:lnTo>
                    <a:pt x="0" y="111285"/>
                  </a:lnTo>
                  <a:cubicBezTo>
                    <a:pt x="0" y="49824"/>
                    <a:pt x="49824" y="0"/>
                    <a:pt x="111285" y="0"/>
                  </a:cubicBez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624633" cy="2797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296642" y="7879838"/>
            <a:ext cx="2406613" cy="773970"/>
            <a:chOff x="0" y="0"/>
            <a:chExt cx="598724" cy="19255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98724" cy="192550"/>
            </a:xfrm>
            <a:custGeom>
              <a:avLst/>
              <a:gdLst/>
              <a:ahLst/>
              <a:cxnLst/>
              <a:rect l="l" t="t" r="r" b="b"/>
              <a:pathLst>
                <a:path w="598724" h="192550">
                  <a:moveTo>
                    <a:pt x="96275" y="0"/>
                  </a:moveTo>
                  <a:lnTo>
                    <a:pt x="502449" y="0"/>
                  </a:lnTo>
                  <a:cubicBezTo>
                    <a:pt x="527983" y="0"/>
                    <a:pt x="552471" y="10143"/>
                    <a:pt x="570526" y="28198"/>
                  </a:cubicBezTo>
                  <a:cubicBezTo>
                    <a:pt x="588581" y="46253"/>
                    <a:pt x="598724" y="70741"/>
                    <a:pt x="598724" y="96275"/>
                  </a:cubicBezTo>
                  <a:lnTo>
                    <a:pt x="598724" y="96275"/>
                  </a:lnTo>
                  <a:cubicBezTo>
                    <a:pt x="598724" y="121809"/>
                    <a:pt x="588581" y="146297"/>
                    <a:pt x="570526" y="164352"/>
                  </a:cubicBezTo>
                  <a:cubicBezTo>
                    <a:pt x="552471" y="182407"/>
                    <a:pt x="527983" y="192550"/>
                    <a:pt x="502449" y="192550"/>
                  </a:cubicBezTo>
                  <a:lnTo>
                    <a:pt x="96275" y="192550"/>
                  </a:lnTo>
                  <a:cubicBezTo>
                    <a:pt x="70741" y="192550"/>
                    <a:pt x="46253" y="182407"/>
                    <a:pt x="28198" y="164352"/>
                  </a:cubicBezTo>
                  <a:cubicBezTo>
                    <a:pt x="10143" y="146297"/>
                    <a:pt x="0" y="121809"/>
                    <a:pt x="0" y="96275"/>
                  </a:cubicBezTo>
                  <a:lnTo>
                    <a:pt x="0" y="96275"/>
                  </a:lnTo>
                  <a:cubicBezTo>
                    <a:pt x="0" y="70741"/>
                    <a:pt x="10143" y="46253"/>
                    <a:pt x="28198" y="28198"/>
                  </a:cubicBezTo>
                  <a:cubicBezTo>
                    <a:pt x="46253" y="10143"/>
                    <a:pt x="70741" y="0"/>
                    <a:pt x="96275" y="0"/>
                  </a:cubicBezTo>
                  <a:close/>
                </a:path>
              </a:pathLst>
            </a:custGeom>
            <a:solidFill>
              <a:srgbClr val="D8D8D8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598724" cy="24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32" name="Freeform 32"/>
          <p:cNvSpPr/>
          <p:nvPr/>
        </p:nvSpPr>
        <p:spPr>
          <a:xfrm>
            <a:off x="13440324" y="1128657"/>
            <a:ext cx="626789" cy="663269"/>
          </a:xfrm>
          <a:custGeom>
            <a:avLst/>
            <a:gdLst/>
            <a:ahLst/>
            <a:cxnLst/>
            <a:rect l="l" t="t" r="r" b="b"/>
            <a:pathLst>
              <a:path w="626789" h="663269">
                <a:moveTo>
                  <a:pt x="0" y="0"/>
                </a:moveTo>
                <a:lnTo>
                  <a:pt x="626790" y="0"/>
                </a:lnTo>
                <a:lnTo>
                  <a:pt x="626790" y="663269"/>
                </a:lnTo>
                <a:lnTo>
                  <a:pt x="0" y="6632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3" name="Freeform 33"/>
          <p:cNvSpPr/>
          <p:nvPr/>
        </p:nvSpPr>
        <p:spPr>
          <a:xfrm>
            <a:off x="7856768" y="4324813"/>
            <a:ext cx="774306" cy="774306"/>
          </a:xfrm>
          <a:custGeom>
            <a:avLst/>
            <a:gdLst/>
            <a:ahLst/>
            <a:cxnLst/>
            <a:rect l="l" t="t" r="r" b="b"/>
            <a:pathLst>
              <a:path w="774306" h="774306">
                <a:moveTo>
                  <a:pt x="0" y="0"/>
                </a:moveTo>
                <a:lnTo>
                  <a:pt x="774306" y="0"/>
                </a:lnTo>
                <a:lnTo>
                  <a:pt x="774306" y="774306"/>
                </a:lnTo>
                <a:lnTo>
                  <a:pt x="0" y="7743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4" name="Freeform 34"/>
          <p:cNvSpPr/>
          <p:nvPr/>
        </p:nvSpPr>
        <p:spPr>
          <a:xfrm>
            <a:off x="10052394" y="4335992"/>
            <a:ext cx="945773" cy="945773"/>
          </a:xfrm>
          <a:custGeom>
            <a:avLst/>
            <a:gdLst/>
            <a:ahLst/>
            <a:cxnLst/>
            <a:rect l="l" t="t" r="r" b="b"/>
            <a:pathLst>
              <a:path w="945773" h="945773">
                <a:moveTo>
                  <a:pt x="0" y="0"/>
                </a:moveTo>
                <a:lnTo>
                  <a:pt x="945773" y="0"/>
                </a:lnTo>
                <a:lnTo>
                  <a:pt x="945773" y="945773"/>
                </a:lnTo>
                <a:lnTo>
                  <a:pt x="0" y="9457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5" name="Freeform 35"/>
          <p:cNvSpPr/>
          <p:nvPr/>
        </p:nvSpPr>
        <p:spPr>
          <a:xfrm>
            <a:off x="11223889" y="5281765"/>
            <a:ext cx="961446" cy="961446"/>
          </a:xfrm>
          <a:custGeom>
            <a:avLst/>
            <a:gdLst/>
            <a:ahLst/>
            <a:cxnLst/>
            <a:rect l="l" t="t" r="r" b="b"/>
            <a:pathLst>
              <a:path w="961446" h="961446">
                <a:moveTo>
                  <a:pt x="0" y="0"/>
                </a:moveTo>
                <a:lnTo>
                  <a:pt x="961446" y="0"/>
                </a:lnTo>
                <a:lnTo>
                  <a:pt x="961446" y="961447"/>
                </a:lnTo>
                <a:lnTo>
                  <a:pt x="0" y="9614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6" name="Freeform 36"/>
          <p:cNvSpPr/>
          <p:nvPr/>
        </p:nvSpPr>
        <p:spPr>
          <a:xfrm>
            <a:off x="8700631" y="5232929"/>
            <a:ext cx="886738" cy="936979"/>
          </a:xfrm>
          <a:custGeom>
            <a:avLst/>
            <a:gdLst/>
            <a:ahLst/>
            <a:cxnLst/>
            <a:rect l="l" t="t" r="r" b="b"/>
            <a:pathLst>
              <a:path w="886738" h="936979">
                <a:moveTo>
                  <a:pt x="0" y="0"/>
                </a:moveTo>
                <a:lnTo>
                  <a:pt x="886738" y="0"/>
                </a:lnTo>
                <a:lnTo>
                  <a:pt x="886738" y="936979"/>
                </a:lnTo>
                <a:lnTo>
                  <a:pt x="0" y="9369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7" name="Freeform 37"/>
          <p:cNvSpPr/>
          <p:nvPr/>
        </p:nvSpPr>
        <p:spPr>
          <a:xfrm>
            <a:off x="9818242" y="4239334"/>
            <a:ext cx="458083" cy="519977"/>
          </a:xfrm>
          <a:custGeom>
            <a:avLst/>
            <a:gdLst/>
            <a:ahLst/>
            <a:cxnLst/>
            <a:rect l="l" t="t" r="r" b="b"/>
            <a:pathLst>
              <a:path w="458083" h="519977">
                <a:moveTo>
                  <a:pt x="0" y="0"/>
                </a:moveTo>
                <a:lnTo>
                  <a:pt x="458083" y="0"/>
                </a:lnTo>
                <a:lnTo>
                  <a:pt x="458083" y="519977"/>
                </a:lnTo>
                <a:lnTo>
                  <a:pt x="0" y="5199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24080"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8" name="Freeform 38"/>
          <p:cNvSpPr/>
          <p:nvPr/>
        </p:nvSpPr>
        <p:spPr>
          <a:xfrm>
            <a:off x="9818242" y="4808879"/>
            <a:ext cx="458083" cy="535770"/>
          </a:xfrm>
          <a:custGeom>
            <a:avLst/>
            <a:gdLst/>
            <a:ahLst/>
            <a:cxnLst/>
            <a:rect l="l" t="t" r="r" b="b"/>
            <a:pathLst>
              <a:path w="458083" h="535770">
                <a:moveTo>
                  <a:pt x="0" y="0"/>
                </a:moveTo>
                <a:lnTo>
                  <a:pt x="458083" y="0"/>
                </a:lnTo>
                <a:lnTo>
                  <a:pt x="458083" y="535770"/>
                </a:lnTo>
                <a:lnTo>
                  <a:pt x="0" y="53577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39" name="Freeform 39"/>
          <p:cNvSpPr/>
          <p:nvPr/>
        </p:nvSpPr>
        <p:spPr>
          <a:xfrm>
            <a:off x="12042211" y="4374618"/>
            <a:ext cx="1084369" cy="970031"/>
          </a:xfrm>
          <a:custGeom>
            <a:avLst/>
            <a:gdLst/>
            <a:ahLst/>
            <a:cxnLst/>
            <a:rect l="l" t="t" r="r" b="b"/>
            <a:pathLst>
              <a:path w="1084369" h="970031">
                <a:moveTo>
                  <a:pt x="0" y="0"/>
                </a:moveTo>
                <a:lnTo>
                  <a:pt x="1084369" y="0"/>
                </a:lnTo>
                <a:lnTo>
                  <a:pt x="1084369" y="970031"/>
                </a:lnTo>
                <a:lnTo>
                  <a:pt x="0" y="97003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40" name="Freeform 40"/>
          <p:cNvSpPr/>
          <p:nvPr/>
        </p:nvSpPr>
        <p:spPr>
          <a:xfrm>
            <a:off x="13513294" y="4100376"/>
            <a:ext cx="480850" cy="471233"/>
          </a:xfrm>
          <a:custGeom>
            <a:avLst/>
            <a:gdLst/>
            <a:ahLst/>
            <a:cxnLst/>
            <a:rect l="l" t="t" r="r" b="b"/>
            <a:pathLst>
              <a:path w="480850" h="471233">
                <a:moveTo>
                  <a:pt x="0" y="0"/>
                </a:moveTo>
                <a:lnTo>
                  <a:pt x="480850" y="0"/>
                </a:lnTo>
                <a:lnTo>
                  <a:pt x="480850" y="471233"/>
                </a:lnTo>
                <a:lnTo>
                  <a:pt x="0" y="4712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41" name="TextBox 41"/>
          <p:cNvSpPr txBox="1"/>
          <p:nvPr/>
        </p:nvSpPr>
        <p:spPr>
          <a:xfrm>
            <a:off x="1028700" y="3814860"/>
            <a:ext cx="5410637" cy="1152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51"/>
              </a:lnSpc>
            </a:pPr>
            <a:r>
              <a:rPr lang="en-US" sz="8399" spc="-260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Origen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02452" y="1284608"/>
            <a:ext cx="2174926" cy="1138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23"/>
              </a:lnSpc>
            </a:pPr>
            <a:r>
              <a:rPr lang="en-US" sz="701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TDAH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800529" y="7212928"/>
            <a:ext cx="5877640" cy="1597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17"/>
              </a:lnSpc>
            </a:pPr>
            <a:r>
              <a:rPr lang="en-US" sz="3243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Experiencia Personal</a:t>
            </a:r>
          </a:p>
          <a:p>
            <a:pPr algn="ctr">
              <a:lnSpc>
                <a:spcPts val="4217"/>
              </a:lnSpc>
            </a:pPr>
            <a:r>
              <a:rPr lang="en-US" sz="3243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Orientación Psicopedagógica</a:t>
            </a:r>
          </a:p>
          <a:p>
            <a:pPr algn="ctr">
              <a:lnSpc>
                <a:spcPts val="4217"/>
              </a:lnSpc>
            </a:pPr>
            <a:r>
              <a:rPr lang="en-US" sz="3243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Formación Informática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58376" y="6141333"/>
            <a:ext cx="2976788" cy="476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3"/>
              </a:lnSpc>
            </a:pPr>
            <a:r>
              <a:rPr lang="en-US" sz="2994" b="1">
                <a:solidFill>
                  <a:srgbClr val="001E3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Psicopedagogía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487016" y="8014378"/>
            <a:ext cx="2122182" cy="476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3"/>
              </a:lnSpc>
            </a:pPr>
            <a:r>
              <a:rPr lang="en-US" sz="2994" b="1">
                <a:solidFill>
                  <a:srgbClr val="001E32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Informática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962488" y="2394383"/>
            <a:ext cx="5164092" cy="852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Trastorno de deficit de atención con hiperactividad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49180" y="9145835"/>
            <a:ext cx="16410120" cy="0"/>
          </a:xfrm>
          <a:prstGeom prst="line">
            <a:avLst/>
          </a:prstGeom>
          <a:ln w="47625" cap="flat">
            <a:solidFill>
              <a:srgbClr val="001E32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s-419"/>
          </a:p>
        </p:txBody>
      </p:sp>
      <p:grpSp>
        <p:nvGrpSpPr>
          <p:cNvPr id="3" name="Group 3"/>
          <p:cNvGrpSpPr/>
          <p:nvPr/>
        </p:nvGrpSpPr>
        <p:grpSpPr>
          <a:xfrm>
            <a:off x="3020027" y="9033369"/>
            <a:ext cx="224931" cy="224931"/>
            <a:chOff x="0" y="0"/>
            <a:chExt cx="739177" cy="73917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39177" cy="739177"/>
            </a:xfrm>
            <a:custGeom>
              <a:avLst/>
              <a:gdLst/>
              <a:ahLst/>
              <a:cxnLst/>
              <a:rect l="l" t="t" r="r" b="b"/>
              <a:pathLst>
                <a:path w="739177" h="739177">
                  <a:moveTo>
                    <a:pt x="369588" y="0"/>
                  </a:moveTo>
                  <a:cubicBezTo>
                    <a:pt x="165470" y="0"/>
                    <a:pt x="0" y="165470"/>
                    <a:pt x="0" y="369588"/>
                  </a:cubicBezTo>
                  <a:cubicBezTo>
                    <a:pt x="0" y="573707"/>
                    <a:pt x="165470" y="739177"/>
                    <a:pt x="369588" y="739177"/>
                  </a:cubicBezTo>
                  <a:cubicBezTo>
                    <a:pt x="573707" y="739177"/>
                    <a:pt x="739177" y="573707"/>
                    <a:pt x="739177" y="369588"/>
                  </a:cubicBezTo>
                  <a:cubicBezTo>
                    <a:pt x="739177" y="165470"/>
                    <a:pt x="573707" y="0"/>
                    <a:pt x="369588" y="0"/>
                  </a:cubicBez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9298" y="40723"/>
              <a:ext cx="600581" cy="629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039568" y="9033369"/>
            <a:ext cx="224931" cy="224931"/>
            <a:chOff x="0" y="0"/>
            <a:chExt cx="739177" cy="73917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9177" cy="739177"/>
            </a:xfrm>
            <a:custGeom>
              <a:avLst/>
              <a:gdLst/>
              <a:ahLst/>
              <a:cxnLst/>
              <a:rect l="l" t="t" r="r" b="b"/>
              <a:pathLst>
                <a:path w="739177" h="739177">
                  <a:moveTo>
                    <a:pt x="369588" y="0"/>
                  </a:moveTo>
                  <a:cubicBezTo>
                    <a:pt x="165470" y="0"/>
                    <a:pt x="0" y="165470"/>
                    <a:pt x="0" y="369588"/>
                  </a:cubicBezTo>
                  <a:cubicBezTo>
                    <a:pt x="0" y="573707"/>
                    <a:pt x="165470" y="739177"/>
                    <a:pt x="369588" y="739177"/>
                  </a:cubicBezTo>
                  <a:cubicBezTo>
                    <a:pt x="573707" y="739177"/>
                    <a:pt x="739177" y="573707"/>
                    <a:pt x="739177" y="369588"/>
                  </a:cubicBezTo>
                  <a:cubicBezTo>
                    <a:pt x="739177" y="165470"/>
                    <a:pt x="573707" y="0"/>
                    <a:pt x="369588" y="0"/>
                  </a:cubicBez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9298" y="40723"/>
              <a:ext cx="600581" cy="629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081279" y="9033369"/>
            <a:ext cx="224931" cy="224931"/>
            <a:chOff x="0" y="0"/>
            <a:chExt cx="739177" cy="73917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9177" cy="739177"/>
            </a:xfrm>
            <a:custGeom>
              <a:avLst/>
              <a:gdLst/>
              <a:ahLst/>
              <a:cxnLst/>
              <a:rect l="l" t="t" r="r" b="b"/>
              <a:pathLst>
                <a:path w="739177" h="739177">
                  <a:moveTo>
                    <a:pt x="369588" y="0"/>
                  </a:moveTo>
                  <a:cubicBezTo>
                    <a:pt x="165470" y="0"/>
                    <a:pt x="0" y="165470"/>
                    <a:pt x="0" y="369588"/>
                  </a:cubicBezTo>
                  <a:cubicBezTo>
                    <a:pt x="0" y="573707"/>
                    <a:pt x="165470" y="739177"/>
                    <a:pt x="369588" y="739177"/>
                  </a:cubicBezTo>
                  <a:cubicBezTo>
                    <a:pt x="573707" y="739177"/>
                    <a:pt x="739177" y="573707"/>
                    <a:pt x="739177" y="369588"/>
                  </a:cubicBezTo>
                  <a:cubicBezTo>
                    <a:pt x="739177" y="165470"/>
                    <a:pt x="573707" y="0"/>
                    <a:pt x="369588" y="0"/>
                  </a:cubicBez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9298" y="40723"/>
              <a:ext cx="600581" cy="629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060969" y="9033369"/>
            <a:ext cx="224931" cy="224931"/>
            <a:chOff x="0" y="0"/>
            <a:chExt cx="739177" cy="73917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9177" cy="739177"/>
            </a:xfrm>
            <a:custGeom>
              <a:avLst/>
              <a:gdLst/>
              <a:ahLst/>
              <a:cxnLst/>
              <a:rect l="l" t="t" r="r" b="b"/>
              <a:pathLst>
                <a:path w="739177" h="739177">
                  <a:moveTo>
                    <a:pt x="369588" y="0"/>
                  </a:moveTo>
                  <a:cubicBezTo>
                    <a:pt x="165470" y="0"/>
                    <a:pt x="0" y="165470"/>
                    <a:pt x="0" y="369588"/>
                  </a:cubicBezTo>
                  <a:cubicBezTo>
                    <a:pt x="0" y="573707"/>
                    <a:pt x="165470" y="739177"/>
                    <a:pt x="369588" y="739177"/>
                  </a:cubicBezTo>
                  <a:cubicBezTo>
                    <a:pt x="573707" y="739177"/>
                    <a:pt x="739177" y="573707"/>
                    <a:pt x="739177" y="369588"/>
                  </a:cubicBezTo>
                  <a:cubicBezTo>
                    <a:pt x="739177" y="165470"/>
                    <a:pt x="573707" y="0"/>
                    <a:pt x="369588" y="0"/>
                  </a:cubicBez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9298" y="40723"/>
              <a:ext cx="600581" cy="6291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803323" y="4508832"/>
            <a:ext cx="2622486" cy="4267921"/>
            <a:chOff x="0" y="0"/>
            <a:chExt cx="417505" cy="67946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17505" cy="662939"/>
            </a:xfrm>
            <a:custGeom>
              <a:avLst/>
              <a:gdLst/>
              <a:ahLst/>
              <a:cxnLst/>
              <a:rect l="l" t="t" r="r" b="b"/>
              <a:pathLst>
                <a:path w="417505" h="662939">
                  <a:moveTo>
                    <a:pt x="417505" y="64578"/>
                  </a:moveTo>
                  <a:lnTo>
                    <a:pt x="417505" y="500583"/>
                  </a:lnTo>
                  <a:cubicBezTo>
                    <a:pt x="417505" y="540402"/>
                    <a:pt x="395788" y="577052"/>
                    <a:pt x="360862" y="596175"/>
                  </a:cubicBezTo>
                  <a:lnTo>
                    <a:pt x="265395" y="648447"/>
                  </a:lnTo>
                  <a:cubicBezTo>
                    <a:pt x="230105" y="667769"/>
                    <a:pt x="187399" y="667769"/>
                    <a:pt x="152109" y="648447"/>
                  </a:cubicBezTo>
                  <a:lnTo>
                    <a:pt x="56643" y="596175"/>
                  </a:lnTo>
                  <a:cubicBezTo>
                    <a:pt x="21717" y="577052"/>
                    <a:pt x="0" y="540402"/>
                    <a:pt x="0" y="500583"/>
                  </a:cubicBezTo>
                  <a:lnTo>
                    <a:pt x="0" y="64578"/>
                  </a:lnTo>
                  <a:cubicBezTo>
                    <a:pt x="0" y="47451"/>
                    <a:pt x="6804" y="31025"/>
                    <a:pt x="18914" y="18914"/>
                  </a:cubicBezTo>
                  <a:cubicBezTo>
                    <a:pt x="31025" y="6804"/>
                    <a:pt x="47451" y="0"/>
                    <a:pt x="64578" y="0"/>
                  </a:cubicBezTo>
                  <a:lnTo>
                    <a:pt x="352927" y="0"/>
                  </a:lnTo>
                  <a:cubicBezTo>
                    <a:pt x="370054" y="0"/>
                    <a:pt x="386479" y="6804"/>
                    <a:pt x="398590" y="18914"/>
                  </a:cubicBezTo>
                  <a:cubicBezTo>
                    <a:pt x="410701" y="31025"/>
                    <a:pt x="417505" y="47451"/>
                    <a:pt x="417505" y="64578"/>
                  </a:cubicBezTo>
                  <a:close/>
                </a:path>
              </a:pathLst>
            </a:custGeom>
            <a:solidFill>
              <a:srgbClr val="001E32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419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417505" cy="603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77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029520" y="5778713"/>
            <a:ext cx="2192496" cy="1087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10"/>
              </a:lnSpc>
            </a:pPr>
            <a:r>
              <a:rPr lang="en-US" sz="3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Pruebas de Certificación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00276" y="1152525"/>
            <a:ext cx="15487447" cy="1152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651"/>
              </a:lnSpc>
            </a:pPr>
            <a:r>
              <a:rPr lang="en-US" sz="8399" spc="-260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Competencias del perfil de egreso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5840790" y="4508832"/>
            <a:ext cx="2622486" cy="4267921"/>
            <a:chOff x="0" y="0"/>
            <a:chExt cx="417505" cy="67946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17505" cy="662939"/>
            </a:xfrm>
            <a:custGeom>
              <a:avLst/>
              <a:gdLst/>
              <a:ahLst/>
              <a:cxnLst/>
              <a:rect l="l" t="t" r="r" b="b"/>
              <a:pathLst>
                <a:path w="417505" h="662939">
                  <a:moveTo>
                    <a:pt x="417505" y="64578"/>
                  </a:moveTo>
                  <a:lnTo>
                    <a:pt x="417505" y="500583"/>
                  </a:lnTo>
                  <a:cubicBezTo>
                    <a:pt x="417505" y="540402"/>
                    <a:pt x="395788" y="577052"/>
                    <a:pt x="360862" y="596175"/>
                  </a:cubicBezTo>
                  <a:lnTo>
                    <a:pt x="265395" y="648447"/>
                  </a:lnTo>
                  <a:cubicBezTo>
                    <a:pt x="230105" y="667769"/>
                    <a:pt x="187399" y="667769"/>
                    <a:pt x="152109" y="648447"/>
                  </a:cubicBezTo>
                  <a:lnTo>
                    <a:pt x="56643" y="596175"/>
                  </a:lnTo>
                  <a:cubicBezTo>
                    <a:pt x="21717" y="577052"/>
                    <a:pt x="0" y="540402"/>
                    <a:pt x="0" y="500583"/>
                  </a:cubicBezTo>
                  <a:lnTo>
                    <a:pt x="0" y="64578"/>
                  </a:lnTo>
                  <a:cubicBezTo>
                    <a:pt x="0" y="47451"/>
                    <a:pt x="6804" y="31025"/>
                    <a:pt x="18914" y="18914"/>
                  </a:cubicBezTo>
                  <a:cubicBezTo>
                    <a:pt x="31025" y="6804"/>
                    <a:pt x="47451" y="0"/>
                    <a:pt x="64578" y="0"/>
                  </a:cubicBezTo>
                  <a:lnTo>
                    <a:pt x="352927" y="0"/>
                  </a:lnTo>
                  <a:cubicBezTo>
                    <a:pt x="370054" y="0"/>
                    <a:pt x="386479" y="6804"/>
                    <a:pt x="398590" y="18914"/>
                  </a:cubicBezTo>
                  <a:cubicBezTo>
                    <a:pt x="410701" y="31025"/>
                    <a:pt x="417505" y="47451"/>
                    <a:pt x="417505" y="64578"/>
                  </a:cubicBezTo>
                  <a:close/>
                </a:path>
              </a:pathLst>
            </a:custGeom>
            <a:solidFill>
              <a:srgbClr val="001E32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419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417505" cy="603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77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6128955" y="5502488"/>
            <a:ext cx="2046156" cy="1640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10"/>
              </a:lnSpc>
            </a:pPr>
            <a:r>
              <a:rPr lang="en-US" sz="3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Gestión de proyectos informáticos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882501" y="4508832"/>
            <a:ext cx="2622486" cy="4267921"/>
            <a:chOff x="0" y="0"/>
            <a:chExt cx="417505" cy="67946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17505" cy="662939"/>
            </a:xfrm>
            <a:custGeom>
              <a:avLst/>
              <a:gdLst/>
              <a:ahLst/>
              <a:cxnLst/>
              <a:rect l="l" t="t" r="r" b="b"/>
              <a:pathLst>
                <a:path w="417505" h="662939">
                  <a:moveTo>
                    <a:pt x="417505" y="64578"/>
                  </a:moveTo>
                  <a:lnTo>
                    <a:pt x="417505" y="500583"/>
                  </a:lnTo>
                  <a:cubicBezTo>
                    <a:pt x="417505" y="540402"/>
                    <a:pt x="395788" y="577052"/>
                    <a:pt x="360862" y="596175"/>
                  </a:cubicBezTo>
                  <a:lnTo>
                    <a:pt x="265395" y="648447"/>
                  </a:lnTo>
                  <a:cubicBezTo>
                    <a:pt x="230105" y="667769"/>
                    <a:pt x="187399" y="667769"/>
                    <a:pt x="152109" y="648447"/>
                  </a:cubicBezTo>
                  <a:lnTo>
                    <a:pt x="56643" y="596175"/>
                  </a:lnTo>
                  <a:cubicBezTo>
                    <a:pt x="21717" y="577052"/>
                    <a:pt x="0" y="540402"/>
                    <a:pt x="0" y="500583"/>
                  </a:cubicBezTo>
                  <a:lnTo>
                    <a:pt x="0" y="64578"/>
                  </a:lnTo>
                  <a:cubicBezTo>
                    <a:pt x="0" y="47451"/>
                    <a:pt x="6804" y="31025"/>
                    <a:pt x="18914" y="18914"/>
                  </a:cubicBezTo>
                  <a:cubicBezTo>
                    <a:pt x="31025" y="6804"/>
                    <a:pt x="47451" y="0"/>
                    <a:pt x="64578" y="0"/>
                  </a:cubicBezTo>
                  <a:lnTo>
                    <a:pt x="352927" y="0"/>
                  </a:lnTo>
                  <a:cubicBezTo>
                    <a:pt x="370054" y="0"/>
                    <a:pt x="386479" y="6804"/>
                    <a:pt x="398590" y="18914"/>
                  </a:cubicBezTo>
                  <a:cubicBezTo>
                    <a:pt x="410701" y="31025"/>
                    <a:pt x="417505" y="47451"/>
                    <a:pt x="417505" y="64578"/>
                  </a:cubicBezTo>
                  <a:close/>
                </a:path>
              </a:pathLst>
            </a:custGeom>
            <a:solidFill>
              <a:srgbClr val="001E32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419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417505" cy="603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77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0170666" y="5553660"/>
            <a:ext cx="2046156" cy="1640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10"/>
              </a:lnSpc>
            </a:pPr>
            <a:r>
              <a:rPr lang="en-US" sz="3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Construir modelos de datos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3862191" y="4457660"/>
            <a:ext cx="2622486" cy="4267921"/>
            <a:chOff x="0" y="0"/>
            <a:chExt cx="417505" cy="67946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17505" cy="662939"/>
            </a:xfrm>
            <a:custGeom>
              <a:avLst/>
              <a:gdLst/>
              <a:ahLst/>
              <a:cxnLst/>
              <a:rect l="l" t="t" r="r" b="b"/>
              <a:pathLst>
                <a:path w="417505" h="662939">
                  <a:moveTo>
                    <a:pt x="417505" y="64578"/>
                  </a:moveTo>
                  <a:lnTo>
                    <a:pt x="417505" y="500583"/>
                  </a:lnTo>
                  <a:cubicBezTo>
                    <a:pt x="417505" y="540402"/>
                    <a:pt x="395788" y="577052"/>
                    <a:pt x="360862" y="596175"/>
                  </a:cubicBezTo>
                  <a:lnTo>
                    <a:pt x="265395" y="648447"/>
                  </a:lnTo>
                  <a:cubicBezTo>
                    <a:pt x="230105" y="667769"/>
                    <a:pt x="187399" y="667769"/>
                    <a:pt x="152109" y="648447"/>
                  </a:cubicBezTo>
                  <a:lnTo>
                    <a:pt x="56643" y="596175"/>
                  </a:lnTo>
                  <a:cubicBezTo>
                    <a:pt x="21717" y="577052"/>
                    <a:pt x="0" y="540402"/>
                    <a:pt x="0" y="500583"/>
                  </a:cubicBezTo>
                  <a:lnTo>
                    <a:pt x="0" y="64578"/>
                  </a:lnTo>
                  <a:cubicBezTo>
                    <a:pt x="0" y="47451"/>
                    <a:pt x="6804" y="31025"/>
                    <a:pt x="18914" y="18914"/>
                  </a:cubicBezTo>
                  <a:cubicBezTo>
                    <a:pt x="31025" y="6804"/>
                    <a:pt x="47451" y="0"/>
                    <a:pt x="64578" y="0"/>
                  </a:cubicBezTo>
                  <a:lnTo>
                    <a:pt x="352927" y="0"/>
                  </a:lnTo>
                  <a:cubicBezTo>
                    <a:pt x="370054" y="0"/>
                    <a:pt x="386479" y="6804"/>
                    <a:pt x="398590" y="18914"/>
                  </a:cubicBezTo>
                  <a:cubicBezTo>
                    <a:pt x="410701" y="31025"/>
                    <a:pt x="417505" y="47451"/>
                    <a:pt x="417505" y="64578"/>
                  </a:cubicBezTo>
                  <a:close/>
                </a:path>
              </a:pathLst>
            </a:custGeom>
            <a:solidFill>
              <a:srgbClr val="001E32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s-419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417505" cy="603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77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4150356" y="5502488"/>
            <a:ext cx="2046156" cy="1640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10"/>
              </a:lnSpc>
            </a:pPr>
            <a:r>
              <a:rPr lang="en-US" sz="3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Desarrollar una solución de software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941666" y="-191691"/>
            <a:ext cx="6548173" cy="10670381"/>
            <a:chOff x="0" y="0"/>
            <a:chExt cx="1724622" cy="28103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24622" cy="2810306"/>
            </a:xfrm>
            <a:custGeom>
              <a:avLst/>
              <a:gdLst/>
              <a:ahLst/>
              <a:cxnLst/>
              <a:rect l="l" t="t" r="r" b="b"/>
              <a:pathLst>
                <a:path w="1724622" h="2810306">
                  <a:moveTo>
                    <a:pt x="0" y="0"/>
                  </a:moveTo>
                  <a:lnTo>
                    <a:pt x="1724622" y="0"/>
                  </a:lnTo>
                  <a:lnTo>
                    <a:pt x="1724622" y="2810306"/>
                  </a:lnTo>
                  <a:lnTo>
                    <a:pt x="0" y="2810306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724622" cy="2867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5400000">
            <a:off x="1356891" y="5822302"/>
            <a:ext cx="912119" cy="912119"/>
          </a:xfrm>
          <a:custGeom>
            <a:avLst/>
            <a:gdLst/>
            <a:ahLst/>
            <a:cxnLst/>
            <a:rect l="l" t="t" r="r" b="b"/>
            <a:pathLst>
              <a:path w="912119" h="912119">
                <a:moveTo>
                  <a:pt x="0" y="0"/>
                </a:moveTo>
                <a:lnTo>
                  <a:pt x="912119" y="0"/>
                </a:lnTo>
                <a:lnTo>
                  <a:pt x="912119" y="912120"/>
                </a:lnTo>
                <a:lnTo>
                  <a:pt x="0" y="9121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6" name="Freeform 6"/>
          <p:cNvSpPr/>
          <p:nvPr/>
        </p:nvSpPr>
        <p:spPr>
          <a:xfrm rot="-5400000">
            <a:off x="1385795" y="5852998"/>
            <a:ext cx="850728" cy="850728"/>
          </a:xfrm>
          <a:custGeom>
            <a:avLst/>
            <a:gdLst/>
            <a:ahLst/>
            <a:cxnLst/>
            <a:rect l="l" t="t" r="r" b="b"/>
            <a:pathLst>
              <a:path w="850728" h="850728">
                <a:moveTo>
                  <a:pt x="0" y="0"/>
                </a:moveTo>
                <a:lnTo>
                  <a:pt x="850728" y="0"/>
                </a:lnTo>
                <a:lnTo>
                  <a:pt x="850728" y="850728"/>
                </a:lnTo>
                <a:lnTo>
                  <a:pt x="0" y="850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7" name="Freeform 7"/>
          <p:cNvSpPr/>
          <p:nvPr/>
        </p:nvSpPr>
        <p:spPr>
          <a:xfrm rot="-5400000">
            <a:off x="4995044" y="5822302"/>
            <a:ext cx="912119" cy="912119"/>
          </a:xfrm>
          <a:custGeom>
            <a:avLst/>
            <a:gdLst/>
            <a:ahLst/>
            <a:cxnLst/>
            <a:rect l="l" t="t" r="r" b="b"/>
            <a:pathLst>
              <a:path w="912119" h="912119">
                <a:moveTo>
                  <a:pt x="0" y="0"/>
                </a:moveTo>
                <a:lnTo>
                  <a:pt x="912119" y="0"/>
                </a:lnTo>
                <a:lnTo>
                  <a:pt x="912119" y="912120"/>
                </a:lnTo>
                <a:lnTo>
                  <a:pt x="0" y="9121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8" name="Freeform 8"/>
          <p:cNvSpPr/>
          <p:nvPr/>
        </p:nvSpPr>
        <p:spPr>
          <a:xfrm rot="-5400000">
            <a:off x="5025740" y="5852998"/>
            <a:ext cx="850728" cy="850728"/>
          </a:xfrm>
          <a:custGeom>
            <a:avLst/>
            <a:gdLst/>
            <a:ahLst/>
            <a:cxnLst/>
            <a:rect l="l" t="t" r="r" b="b"/>
            <a:pathLst>
              <a:path w="850728" h="850728">
                <a:moveTo>
                  <a:pt x="0" y="0"/>
                </a:moveTo>
                <a:lnTo>
                  <a:pt x="850727" y="0"/>
                </a:lnTo>
                <a:lnTo>
                  <a:pt x="850727" y="850728"/>
                </a:lnTo>
                <a:lnTo>
                  <a:pt x="0" y="850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9" name="Freeform 9"/>
          <p:cNvSpPr/>
          <p:nvPr/>
        </p:nvSpPr>
        <p:spPr>
          <a:xfrm rot="-5400000">
            <a:off x="2567693" y="5822302"/>
            <a:ext cx="912119" cy="912119"/>
          </a:xfrm>
          <a:custGeom>
            <a:avLst/>
            <a:gdLst/>
            <a:ahLst/>
            <a:cxnLst/>
            <a:rect l="l" t="t" r="r" b="b"/>
            <a:pathLst>
              <a:path w="912119" h="912119">
                <a:moveTo>
                  <a:pt x="0" y="0"/>
                </a:moveTo>
                <a:lnTo>
                  <a:pt x="912119" y="0"/>
                </a:lnTo>
                <a:lnTo>
                  <a:pt x="912119" y="912120"/>
                </a:lnTo>
                <a:lnTo>
                  <a:pt x="0" y="9121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0" name="Freeform 10"/>
          <p:cNvSpPr/>
          <p:nvPr/>
        </p:nvSpPr>
        <p:spPr>
          <a:xfrm rot="-5400000">
            <a:off x="2598388" y="5852998"/>
            <a:ext cx="850728" cy="850728"/>
          </a:xfrm>
          <a:custGeom>
            <a:avLst/>
            <a:gdLst/>
            <a:ahLst/>
            <a:cxnLst/>
            <a:rect l="l" t="t" r="r" b="b"/>
            <a:pathLst>
              <a:path w="850728" h="850728">
                <a:moveTo>
                  <a:pt x="0" y="0"/>
                </a:moveTo>
                <a:lnTo>
                  <a:pt x="850728" y="0"/>
                </a:lnTo>
                <a:lnTo>
                  <a:pt x="850728" y="850728"/>
                </a:lnTo>
                <a:lnTo>
                  <a:pt x="0" y="850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1" name="Freeform 11"/>
          <p:cNvSpPr/>
          <p:nvPr/>
        </p:nvSpPr>
        <p:spPr>
          <a:xfrm rot="-5400000">
            <a:off x="3785040" y="5822302"/>
            <a:ext cx="912119" cy="912119"/>
          </a:xfrm>
          <a:custGeom>
            <a:avLst/>
            <a:gdLst/>
            <a:ahLst/>
            <a:cxnLst/>
            <a:rect l="l" t="t" r="r" b="b"/>
            <a:pathLst>
              <a:path w="912119" h="912119">
                <a:moveTo>
                  <a:pt x="0" y="0"/>
                </a:moveTo>
                <a:lnTo>
                  <a:pt x="912120" y="0"/>
                </a:lnTo>
                <a:lnTo>
                  <a:pt x="912120" y="912120"/>
                </a:lnTo>
                <a:lnTo>
                  <a:pt x="0" y="9121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2" name="Freeform 12"/>
          <p:cNvSpPr/>
          <p:nvPr/>
        </p:nvSpPr>
        <p:spPr>
          <a:xfrm rot="-5400000">
            <a:off x="3813146" y="5852998"/>
            <a:ext cx="850728" cy="850728"/>
          </a:xfrm>
          <a:custGeom>
            <a:avLst/>
            <a:gdLst/>
            <a:ahLst/>
            <a:cxnLst/>
            <a:rect l="l" t="t" r="r" b="b"/>
            <a:pathLst>
              <a:path w="850728" h="850728">
                <a:moveTo>
                  <a:pt x="0" y="0"/>
                </a:moveTo>
                <a:lnTo>
                  <a:pt x="850728" y="0"/>
                </a:lnTo>
                <a:lnTo>
                  <a:pt x="850728" y="850728"/>
                </a:lnTo>
                <a:lnTo>
                  <a:pt x="0" y="850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3" name="Freeform 13"/>
          <p:cNvSpPr/>
          <p:nvPr/>
        </p:nvSpPr>
        <p:spPr>
          <a:xfrm>
            <a:off x="1356891" y="7187374"/>
            <a:ext cx="1976014" cy="1531411"/>
          </a:xfrm>
          <a:custGeom>
            <a:avLst/>
            <a:gdLst/>
            <a:ahLst/>
            <a:cxnLst/>
            <a:rect l="l" t="t" r="r" b="b"/>
            <a:pathLst>
              <a:path w="1976014" h="1531411">
                <a:moveTo>
                  <a:pt x="0" y="0"/>
                </a:moveTo>
                <a:lnTo>
                  <a:pt x="1976014" y="0"/>
                </a:lnTo>
                <a:lnTo>
                  <a:pt x="1976014" y="1531411"/>
                </a:lnTo>
                <a:lnTo>
                  <a:pt x="0" y="15314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4" name="Freeform 14"/>
          <p:cNvSpPr/>
          <p:nvPr/>
        </p:nvSpPr>
        <p:spPr>
          <a:xfrm>
            <a:off x="4083537" y="7172572"/>
            <a:ext cx="1777257" cy="1546214"/>
          </a:xfrm>
          <a:custGeom>
            <a:avLst/>
            <a:gdLst/>
            <a:ahLst/>
            <a:cxnLst/>
            <a:rect l="l" t="t" r="r" b="b"/>
            <a:pathLst>
              <a:path w="1777257" h="1546214">
                <a:moveTo>
                  <a:pt x="0" y="0"/>
                </a:moveTo>
                <a:lnTo>
                  <a:pt x="1777257" y="0"/>
                </a:lnTo>
                <a:lnTo>
                  <a:pt x="1777257" y="1546213"/>
                </a:lnTo>
                <a:lnTo>
                  <a:pt x="0" y="15462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5" name="Freeform 15"/>
          <p:cNvSpPr/>
          <p:nvPr/>
        </p:nvSpPr>
        <p:spPr>
          <a:xfrm>
            <a:off x="6460869" y="7166491"/>
            <a:ext cx="1094368" cy="1552295"/>
          </a:xfrm>
          <a:custGeom>
            <a:avLst/>
            <a:gdLst/>
            <a:ahLst/>
            <a:cxnLst/>
            <a:rect l="l" t="t" r="r" b="b"/>
            <a:pathLst>
              <a:path w="1094368" h="1552295">
                <a:moveTo>
                  <a:pt x="0" y="0"/>
                </a:moveTo>
                <a:lnTo>
                  <a:pt x="1094368" y="0"/>
                </a:lnTo>
                <a:lnTo>
                  <a:pt x="1094368" y="1552294"/>
                </a:lnTo>
                <a:lnTo>
                  <a:pt x="0" y="15522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6" name="Freeform 16"/>
          <p:cNvSpPr/>
          <p:nvPr/>
        </p:nvSpPr>
        <p:spPr>
          <a:xfrm>
            <a:off x="8369623" y="7166491"/>
            <a:ext cx="1404827" cy="1552295"/>
          </a:xfrm>
          <a:custGeom>
            <a:avLst/>
            <a:gdLst/>
            <a:ahLst/>
            <a:cxnLst/>
            <a:rect l="l" t="t" r="r" b="b"/>
            <a:pathLst>
              <a:path w="1404827" h="1552295">
                <a:moveTo>
                  <a:pt x="0" y="0"/>
                </a:moveTo>
                <a:lnTo>
                  <a:pt x="1404827" y="0"/>
                </a:lnTo>
                <a:lnTo>
                  <a:pt x="1404827" y="1552294"/>
                </a:lnTo>
                <a:lnTo>
                  <a:pt x="0" y="15522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7" name="Freeform 17"/>
          <p:cNvSpPr/>
          <p:nvPr/>
        </p:nvSpPr>
        <p:spPr>
          <a:xfrm>
            <a:off x="14701160" y="1473222"/>
            <a:ext cx="1029184" cy="1029184"/>
          </a:xfrm>
          <a:custGeom>
            <a:avLst/>
            <a:gdLst/>
            <a:ahLst/>
            <a:cxnLst/>
            <a:rect l="l" t="t" r="r" b="b"/>
            <a:pathLst>
              <a:path w="1029184" h="1029184">
                <a:moveTo>
                  <a:pt x="0" y="0"/>
                </a:moveTo>
                <a:lnTo>
                  <a:pt x="1029184" y="0"/>
                </a:lnTo>
                <a:lnTo>
                  <a:pt x="1029184" y="1029185"/>
                </a:lnTo>
                <a:lnTo>
                  <a:pt x="0" y="10291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8" name="TextBox 18"/>
          <p:cNvSpPr txBox="1"/>
          <p:nvPr/>
        </p:nvSpPr>
        <p:spPr>
          <a:xfrm>
            <a:off x="1356891" y="3926827"/>
            <a:ext cx="8226168" cy="1485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1A1A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proyecto contempla desarrollar y probar el núcleo funcional del sistema mediante datos completamente ficticios.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56891" y="2399772"/>
            <a:ext cx="9940696" cy="1152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51"/>
              </a:lnSpc>
            </a:pPr>
            <a:r>
              <a:rPr lang="en-US" sz="8399" spc="-260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Alcance y Factibilidad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154031" y="2981423"/>
            <a:ext cx="4123442" cy="892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90"/>
              </a:lnSpc>
            </a:pPr>
            <a:r>
              <a:rPr lang="en-US" sz="6495" spc="-201">
                <a:solidFill>
                  <a:srgbClr val="FF0000"/>
                </a:solidFill>
                <a:latin typeface="Poly"/>
                <a:ea typeface="Poly"/>
                <a:cs typeface="Poly"/>
                <a:sym typeface="Poly"/>
              </a:rPr>
              <a:t>Diagnóstico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47849" y="4597513"/>
            <a:ext cx="5335807" cy="810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76"/>
              </a:lnSpc>
            </a:pPr>
            <a:r>
              <a:rPr lang="en-US" sz="5899" spc="-182">
                <a:solidFill>
                  <a:srgbClr val="FF0000"/>
                </a:solidFill>
                <a:latin typeface="Poly"/>
                <a:ea typeface="Poly"/>
                <a:cs typeface="Poly"/>
                <a:sym typeface="Poly"/>
              </a:rPr>
              <a:t>Usar datos reales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547849" y="6457567"/>
            <a:ext cx="5335807" cy="2356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76"/>
              </a:lnSpc>
            </a:pPr>
            <a:r>
              <a:rPr lang="en-US" sz="5899" spc="-182">
                <a:solidFill>
                  <a:srgbClr val="FF0000"/>
                </a:solidFill>
                <a:latin typeface="Poly"/>
                <a:ea typeface="Poly"/>
                <a:cs typeface="Poly"/>
                <a:sym typeface="Poly"/>
              </a:rPr>
              <a:t>Integración con sistemas externos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38647" y="2619747"/>
            <a:ext cx="5094282" cy="999793"/>
            <a:chOff x="0" y="0"/>
            <a:chExt cx="1341704" cy="2633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41704" cy="263320"/>
            </a:xfrm>
            <a:custGeom>
              <a:avLst/>
              <a:gdLst/>
              <a:ahLst/>
              <a:cxnLst/>
              <a:rect l="l" t="t" r="r" b="b"/>
              <a:pathLst>
                <a:path w="1341704" h="263320">
                  <a:moveTo>
                    <a:pt x="0" y="0"/>
                  </a:moveTo>
                  <a:lnTo>
                    <a:pt x="1341704" y="0"/>
                  </a:lnTo>
                  <a:lnTo>
                    <a:pt x="1341704" y="263320"/>
                  </a:lnTo>
                  <a:lnTo>
                    <a:pt x="0" y="263320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41704" cy="3014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191047" y="1400811"/>
            <a:ext cx="5633598" cy="999793"/>
            <a:chOff x="0" y="0"/>
            <a:chExt cx="1483746" cy="2633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83746" cy="263320"/>
            </a:xfrm>
            <a:custGeom>
              <a:avLst/>
              <a:gdLst/>
              <a:ahLst/>
              <a:cxnLst/>
              <a:rect l="l" t="t" r="r" b="b"/>
              <a:pathLst>
                <a:path w="1483746" h="263320">
                  <a:moveTo>
                    <a:pt x="0" y="0"/>
                  </a:moveTo>
                  <a:lnTo>
                    <a:pt x="1483746" y="0"/>
                  </a:lnTo>
                  <a:lnTo>
                    <a:pt x="1483746" y="263320"/>
                  </a:lnTo>
                  <a:lnTo>
                    <a:pt x="0" y="263320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83746" cy="3014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238647" y="3844106"/>
            <a:ext cx="4621746" cy="3535636"/>
          </a:xfrm>
          <a:custGeom>
            <a:avLst/>
            <a:gdLst/>
            <a:ahLst/>
            <a:cxnLst/>
            <a:rect l="l" t="t" r="r" b="b"/>
            <a:pathLst>
              <a:path w="4621746" h="3535636">
                <a:moveTo>
                  <a:pt x="0" y="0"/>
                </a:moveTo>
                <a:lnTo>
                  <a:pt x="4621747" y="0"/>
                </a:lnTo>
                <a:lnTo>
                  <a:pt x="4621747" y="3535635"/>
                </a:lnTo>
                <a:lnTo>
                  <a:pt x="0" y="35356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9" name="Freeform 9"/>
          <p:cNvSpPr/>
          <p:nvPr/>
        </p:nvSpPr>
        <p:spPr>
          <a:xfrm>
            <a:off x="7742906" y="4406776"/>
            <a:ext cx="1613229" cy="1613229"/>
          </a:xfrm>
          <a:custGeom>
            <a:avLst/>
            <a:gdLst/>
            <a:ahLst/>
            <a:cxnLst/>
            <a:rect l="l" t="t" r="r" b="b"/>
            <a:pathLst>
              <a:path w="1613229" h="1613229">
                <a:moveTo>
                  <a:pt x="0" y="0"/>
                </a:moveTo>
                <a:lnTo>
                  <a:pt x="1613229" y="0"/>
                </a:lnTo>
                <a:lnTo>
                  <a:pt x="1613229" y="1613229"/>
                </a:lnTo>
                <a:lnTo>
                  <a:pt x="0" y="16132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10" name="Group 10"/>
          <p:cNvGrpSpPr/>
          <p:nvPr/>
        </p:nvGrpSpPr>
        <p:grpSpPr>
          <a:xfrm>
            <a:off x="-6151627" y="0"/>
            <a:ext cx="11223847" cy="11223847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r="-50375"/>
              </a:stretch>
            </a:blipFill>
          </p:spPr>
          <p:txBody>
            <a:bodyPr/>
            <a:lstStyle/>
            <a:p>
              <a:endParaRPr lang="es-419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929470" y="7606771"/>
            <a:ext cx="5403459" cy="247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1A1A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Procesa información escolar ficticia</a:t>
            </a:r>
          </a:p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1A1A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Identifica patrones</a:t>
            </a:r>
          </a:p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1A1A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Apoya revisión y seguimiento</a:t>
            </a:r>
          </a:p>
          <a:p>
            <a:pPr marL="0" lvl="1" indent="0" algn="l">
              <a:lnSpc>
                <a:spcPts val="3900"/>
              </a:lnSpc>
              <a:spcBef>
                <a:spcPct val="0"/>
              </a:spcBef>
            </a:pPr>
            <a:endParaRPr lang="en-US" sz="3000">
              <a:solidFill>
                <a:srgbClr val="1A1A1A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825656" y="2587070"/>
            <a:ext cx="6223846" cy="6438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1A1A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Requerimientos, atributos, variables y criterios psicopedagógicos</a:t>
            </a:r>
          </a:p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1A1A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Diseñar arquitectura, modelo de datos, perfiles y protocolos</a:t>
            </a:r>
          </a:p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1A1A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Implementar módulos principales</a:t>
            </a:r>
          </a:p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1A1A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Construir data</a:t>
            </a:r>
          </a:p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1A1A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Calibrar los criterios de alerta</a:t>
            </a:r>
          </a:p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>
                <a:solidFill>
                  <a:srgbClr val="1A1A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Ejecutar pruebas funcionales de seguridad</a:t>
            </a:r>
          </a:p>
          <a:p>
            <a:pPr marL="647700" lvl="1" indent="-323850" algn="l">
              <a:lnSpc>
                <a:spcPts val="39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1A1A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Documentación (resultados, limitaciones y condiciones futuras)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07279" y="2778313"/>
            <a:ext cx="3908345" cy="606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</a:pPr>
            <a:r>
              <a:rPr lang="en-US" sz="3498">
                <a:solidFill>
                  <a:srgbClr val="FDFDFD"/>
                </a:solidFill>
                <a:latin typeface="Poly"/>
                <a:ea typeface="Poly"/>
                <a:cs typeface="Poly"/>
                <a:sym typeface="Poly"/>
              </a:rPr>
              <a:t>General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908644" y="1559378"/>
            <a:ext cx="4194564" cy="606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98"/>
              </a:lnSpc>
              <a:spcBef>
                <a:spcPct val="0"/>
              </a:spcBef>
            </a:pPr>
            <a:r>
              <a:rPr lang="en-US" sz="3498">
                <a:solidFill>
                  <a:srgbClr val="FDFDFD"/>
                </a:solidFill>
                <a:latin typeface="Poly"/>
                <a:ea typeface="Poly"/>
                <a:cs typeface="Poly"/>
                <a:sym typeface="Poly"/>
              </a:rPr>
              <a:t>Específicos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238647" y="786596"/>
            <a:ext cx="4688439" cy="1152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51"/>
              </a:lnSpc>
            </a:pPr>
            <a:r>
              <a:rPr lang="en-US" sz="8399" spc="-260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Objetivos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3534076"/>
            <a:ext cx="5375116" cy="5431728"/>
          </a:xfrm>
          <a:custGeom>
            <a:avLst/>
            <a:gdLst/>
            <a:ahLst/>
            <a:cxnLst/>
            <a:rect l="l" t="t" r="r" b="b"/>
            <a:pathLst>
              <a:path w="5375116" h="5431728">
                <a:moveTo>
                  <a:pt x="0" y="0"/>
                </a:moveTo>
                <a:lnTo>
                  <a:pt x="5375116" y="0"/>
                </a:lnTo>
                <a:lnTo>
                  <a:pt x="5375116" y="5431728"/>
                </a:lnTo>
                <a:lnTo>
                  <a:pt x="0" y="54317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88086" b="-86126"/>
            </a:stretch>
          </a:blipFill>
        </p:spPr>
        <p:txBody>
          <a:bodyPr/>
          <a:lstStyle/>
          <a:p>
            <a:endParaRPr lang="es-419"/>
          </a:p>
        </p:txBody>
      </p:sp>
      <p:grpSp>
        <p:nvGrpSpPr>
          <p:cNvPr id="3" name="Group 3"/>
          <p:cNvGrpSpPr/>
          <p:nvPr/>
        </p:nvGrpSpPr>
        <p:grpSpPr>
          <a:xfrm>
            <a:off x="11660596" y="-669510"/>
            <a:ext cx="6548173" cy="10670381"/>
            <a:chOff x="0" y="0"/>
            <a:chExt cx="1724622" cy="281030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24622" cy="2810306"/>
            </a:xfrm>
            <a:custGeom>
              <a:avLst/>
              <a:gdLst/>
              <a:ahLst/>
              <a:cxnLst/>
              <a:rect l="l" t="t" r="r" b="b"/>
              <a:pathLst>
                <a:path w="1724622" h="2810306">
                  <a:moveTo>
                    <a:pt x="0" y="0"/>
                  </a:moveTo>
                  <a:lnTo>
                    <a:pt x="1724622" y="0"/>
                  </a:lnTo>
                  <a:lnTo>
                    <a:pt x="1724622" y="2810306"/>
                  </a:lnTo>
                  <a:lnTo>
                    <a:pt x="0" y="2810306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724622" cy="28674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7958928" y="3211601"/>
            <a:ext cx="2146555" cy="1931899"/>
          </a:xfrm>
          <a:custGeom>
            <a:avLst/>
            <a:gdLst/>
            <a:ahLst/>
            <a:cxnLst/>
            <a:rect l="l" t="t" r="r" b="b"/>
            <a:pathLst>
              <a:path w="2146555" h="1931899">
                <a:moveTo>
                  <a:pt x="0" y="0"/>
                </a:moveTo>
                <a:lnTo>
                  <a:pt x="2146555" y="0"/>
                </a:lnTo>
                <a:lnTo>
                  <a:pt x="2146555" y="1931899"/>
                </a:lnTo>
                <a:lnTo>
                  <a:pt x="0" y="19318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7" name="Freeform 7"/>
          <p:cNvSpPr/>
          <p:nvPr/>
        </p:nvSpPr>
        <p:spPr>
          <a:xfrm>
            <a:off x="8162277" y="4430513"/>
            <a:ext cx="2146555" cy="1931899"/>
          </a:xfrm>
          <a:custGeom>
            <a:avLst/>
            <a:gdLst/>
            <a:ahLst/>
            <a:cxnLst/>
            <a:rect l="l" t="t" r="r" b="b"/>
            <a:pathLst>
              <a:path w="2146555" h="1931899">
                <a:moveTo>
                  <a:pt x="0" y="0"/>
                </a:moveTo>
                <a:lnTo>
                  <a:pt x="2146555" y="0"/>
                </a:lnTo>
                <a:lnTo>
                  <a:pt x="2146555" y="1931900"/>
                </a:lnTo>
                <a:lnTo>
                  <a:pt x="0" y="1931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8" name="Freeform 8"/>
          <p:cNvSpPr/>
          <p:nvPr/>
        </p:nvSpPr>
        <p:spPr>
          <a:xfrm>
            <a:off x="8500207" y="5695950"/>
            <a:ext cx="2146555" cy="1931899"/>
          </a:xfrm>
          <a:custGeom>
            <a:avLst/>
            <a:gdLst/>
            <a:ahLst/>
            <a:cxnLst/>
            <a:rect l="l" t="t" r="r" b="b"/>
            <a:pathLst>
              <a:path w="2146555" h="1931899">
                <a:moveTo>
                  <a:pt x="0" y="0"/>
                </a:moveTo>
                <a:lnTo>
                  <a:pt x="2146555" y="0"/>
                </a:lnTo>
                <a:lnTo>
                  <a:pt x="2146555" y="1931899"/>
                </a:lnTo>
                <a:lnTo>
                  <a:pt x="0" y="19318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9" name="Freeform 9"/>
          <p:cNvSpPr/>
          <p:nvPr/>
        </p:nvSpPr>
        <p:spPr>
          <a:xfrm>
            <a:off x="12856500" y="1905606"/>
            <a:ext cx="4156364" cy="4114800"/>
          </a:xfrm>
          <a:custGeom>
            <a:avLst/>
            <a:gdLst/>
            <a:ahLst/>
            <a:cxnLst/>
            <a:rect l="l" t="t" r="r" b="b"/>
            <a:pathLst>
              <a:path w="4156364" h="4114800">
                <a:moveTo>
                  <a:pt x="0" y="0"/>
                </a:moveTo>
                <a:lnTo>
                  <a:pt x="4156364" y="0"/>
                </a:lnTo>
                <a:lnTo>
                  <a:pt x="41563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0" name="TextBox 10"/>
          <p:cNvSpPr txBox="1"/>
          <p:nvPr/>
        </p:nvSpPr>
        <p:spPr>
          <a:xfrm>
            <a:off x="1028700" y="1152525"/>
            <a:ext cx="7133577" cy="1152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51"/>
              </a:lnSpc>
              <a:spcBef>
                <a:spcPct val="0"/>
              </a:spcBef>
            </a:pPr>
            <a:r>
              <a:rPr lang="en-US" sz="8399" spc="-260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Metodología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72596" y="631060"/>
            <a:ext cx="3342807" cy="202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9"/>
              </a:lnSpc>
            </a:pPr>
            <a:r>
              <a:rPr lang="en-US" sz="4099">
                <a:solidFill>
                  <a:srgbClr val="001E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Iterativo </a:t>
            </a:r>
          </a:p>
          <a:p>
            <a:pPr algn="ctr">
              <a:lnSpc>
                <a:spcPts val="5329"/>
              </a:lnSpc>
            </a:pPr>
            <a:r>
              <a:rPr lang="en-US" sz="4099">
                <a:solidFill>
                  <a:srgbClr val="001E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 </a:t>
            </a:r>
          </a:p>
          <a:p>
            <a:pPr algn="ctr">
              <a:lnSpc>
                <a:spcPts val="5329"/>
              </a:lnSpc>
            </a:pPr>
            <a:r>
              <a:rPr lang="en-US" sz="4099">
                <a:solidFill>
                  <a:srgbClr val="001E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Incremental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70996" y="7323559"/>
            <a:ext cx="2727372" cy="1430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790"/>
              </a:lnSpc>
              <a:spcBef>
                <a:spcPct val="0"/>
              </a:spcBef>
            </a:pPr>
            <a:r>
              <a:rPr lang="en-US" sz="10476" spc="-324">
                <a:solidFill>
                  <a:srgbClr val="D8D8D8"/>
                </a:solidFill>
                <a:latin typeface="Poly"/>
                <a:ea typeface="Poly"/>
                <a:cs typeface="Poly"/>
                <a:sym typeface="Poly"/>
              </a:rPr>
              <a:t>EDT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64151" y="7910195"/>
            <a:ext cx="3342807" cy="1348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9"/>
              </a:lnSpc>
            </a:pPr>
            <a:r>
              <a:rPr lang="en-US" sz="4099">
                <a:solidFill>
                  <a:srgbClr val="001E32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Modulos funcionales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08832" y="4263275"/>
            <a:ext cx="421810" cy="803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69"/>
              </a:lnSpc>
              <a:spcBef>
                <a:spcPct val="0"/>
              </a:spcBef>
            </a:pPr>
            <a:r>
              <a:rPr lang="en-US" sz="5892" spc="-182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85148" y="5446448"/>
            <a:ext cx="421810" cy="803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69"/>
              </a:lnSpc>
              <a:spcBef>
                <a:spcPct val="0"/>
              </a:spcBef>
            </a:pPr>
            <a:r>
              <a:rPr lang="en-US" sz="5892" spc="-182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906958" y="6824357"/>
            <a:ext cx="421810" cy="803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69"/>
              </a:lnSpc>
              <a:spcBef>
                <a:spcPct val="0"/>
              </a:spcBef>
            </a:pPr>
            <a:r>
              <a:rPr lang="en-US" sz="5892" spc="-182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712138" y="-600604"/>
            <a:ext cx="19681549" cy="3026619"/>
          </a:xfrm>
          <a:prstGeom prst="rect">
            <a:avLst/>
          </a:prstGeom>
          <a:solidFill>
            <a:srgbClr val="001E32"/>
          </a:solidFill>
        </p:spPr>
        <p:txBody>
          <a:bodyPr/>
          <a:lstStyle/>
          <a:p>
            <a:endParaRPr lang="es-419"/>
          </a:p>
        </p:txBody>
      </p:sp>
      <p:sp>
        <p:nvSpPr>
          <p:cNvPr id="3" name="Freeform 3"/>
          <p:cNvSpPr/>
          <p:nvPr/>
        </p:nvSpPr>
        <p:spPr>
          <a:xfrm>
            <a:off x="578988" y="4880126"/>
            <a:ext cx="1157403" cy="1231280"/>
          </a:xfrm>
          <a:custGeom>
            <a:avLst/>
            <a:gdLst/>
            <a:ahLst/>
            <a:cxnLst/>
            <a:rect l="l" t="t" r="r" b="b"/>
            <a:pathLst>
              <a:path w="1157403" h="1231280">
                <a:moveTo>
                  <a:pt x="0" y="0"/>
                </a:moveTo>
                <a:lnTo>
                  <a:pt x="1157403" y="0"/>
                </a:lnTo>
                <a:lnTo>
                  <a:pt x="1157403" y="1231280"/>
                </a:lnTo>
                <a:lnTo>
                  <a:pt x="0" y="12312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4" name="TextBox 4"/>
          <p:cNvSpPr txBox="1"/>
          <p:nvPr/>
        </p:nvSpPr>
        <p:spPr>
          <a:xfrm>
            <a:off x="896249" y="685023"/>
            <a:ext cx="4298120" cy="994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55"/>
              </a:lnSpc>
            </a:pPr>
            <a:r>
              <a:rPr lang="en-US" sz="6715">
                <a:solidFill>
                  <a:srgbClr val="D8D8D8"/>
                </a:solidFill>
                <a:latin typeface="Poly"/>
                <a:ea typeface="Poly"/>
                <a:cs typeface="Poly"/>
                <a:sym typeface="Poly"/>
              </a:rPr>
              <a:t>Evidencias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78825" y="5064390"/>
            <a:ext cx="4381528" cy="834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6"/>
              </a:lnSpc>
            </a:pPr>
            <a:r>
              <a:rPr lang="en-US" sz="2566">
                <a:solidFill>
                  <a:srgbClr val="1A1A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Documento de requerimientos y planificación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78825" y="7112760"/>
            <a:ext cx="3875602" cy="415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6"/>
              </a:lnSpc>
            </a:pPr>
            <a:r>
              <a:rPr lang="en-US" sz="2566">
                <a:solidFill>
                  <a:srgbClr val="1A1A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Diseño técnico y prototipo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78825" y="8737512"/>
            <a:ext cx="4381528" cy="834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6"/>
              </a:lnSpc>
            </a:pPr>
            <a:r>
              <a:rPr lang="en-US" sz="2566">
                <a:solidFill>
                  <a:srgbClr val="1A1A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Incremento funcional y registro de desarrollo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3844" y="2726916"/>
            <a:ext cx="4733386" cy="1543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98"/>
              </a:lnSpc>
            </a:pPr>
            <a:r>
              <a:rPr lang="en-US" sz="5261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Evidencias de Avance</a:t>
            </a:r>
          </a:p>
        </p:txBody>
      </p:sp>
      <p:sp>
        <p:nvSpPr>
          <p:cNvPr id="9" name="Freeform 9"/>
          <p:cNvSpPr/>
          <p:nvPr/>
        </p:nvSpPr>
        <p:spPr>
          <a:xfrm>
            <a:off x="562746" y="6718946"/>
            <a:ext cx="1157403" cy="1231280"/>
          </a:xfrm>
          <a:custGeom>
            <a:avLst/>
            <a:gdLst/>
            <a:ahLst/>
            <a:cxnLst/>
            <a:rect l="l" t="t" r="r" b="b"/>
            <a:pathLst>
              <a:path w="1157403" h="1231280">
                <a:moveTo>
                  <a:pt x="0" y="0"/>
                </a:moveTo>
                <a:lnTo>
                  <a:pt x="1157403" y="0"/>
                </a:lnTo>
                <a:lnTo>
                  <a:pt x="1157403" y="1231280"/>
                </a:lnTo>
                <a:lnTo>
                  <a:pt x="0" y="12312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0" name="Freeform 10"/>
          <p:cNvSpPr/>
          <p:nvPr/>
        </p:nvSpPr>
        <p:spPr>
          <a:xfrm>
            <a:off x="578988" y="8642660"/>
            <a:ext cx="1157403" cy="1231280"/>
          </a:xfrm>
          <a:custGeom>
            <a:avLst/>
            <a:gdLst/>
            <a:ahLst/>
            <a:cxnLst/>
            <a:rect l="l" t="t" r="r" b="b"/>
            <a:pathLst>
              <a:path w="1157403" h="1231280">
                <a:moveTo>
                  <a:pt x="0" y="0"/>
                </a:moveTo>
                <a:lnTo>
                  <a:pt x="1157403" y="0"/>
                </a:lnTo>
                <a:lnTo>
                  <a:pt x="1157403" y="1231280"/>
                </a:lnTo>
                <a:lnTo>
                  <a:pt x="0" y="12312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1" name="TextBox 11"/>
          <p:cNvSpPr txBox="1"/>
          <p:nvPr/>
        </p:nvSpPr>
        <p:spPr>
          <a:xfrm>
            <a:off x="9725630" y="2738781"/>
            <a:ext cx="4733386" cy="1543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98"/>
              </a:lnSpc>
            </a:pPr>
            <a:r>
              <a:rPr lang="en-US" sz="5261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Evidencias Finales</a:t>
            </a:r>
          </a:p>
        </p:txBody>
      </p:sp>
      <p:sp>
        <p:nvSpPr>
          <p:cNvPr id="12" name="Freeform 12"/>
          <p:cNvSpPr/>
          <p:nvPr/>
        </p:nvSpPr>
        <p:spPr>
          <a:xfrm>
            <a:off x="9741872" y="4880126"/>
            <a:ext cx="1157403" cy="1231280"/>
          </a:xfrm>
          <a:custGeom>
            <a:avLst/>
            <a:gdLst/>
            <a:ahLst/>
            <a:cxnLst/>
            <a:rect l="l" t="t" r="r" b="b"/>
            <a:pathLst>
              <a:path w="1157403" h="1231280">
                <a:moveTo>
                  <a:pt x="0" y="0"/>
                </a:moveTo>
                <a:lnTo>
                  <a:pt x="1157404" y="0"/>
                </a:lnTo>
                <a:lnTo>
                  <a:pt x="1157404" y="1231280"/>
                </a:lnTo>
                <a:lnTo>
                  <a:pt x="0" y="12312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3" name="TextBox 13"/>
          <p:cNvSpPr txBox="1"/>
          <p:nvPr/>
        </p:nvSpPr>
        <p:spPr>
          <a:xfrm>
            <a:off x="11320881" y="5064390"/>
            <a:ext cx="3559740" cy="834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6"/>
              </a:lnSpc>
            </a:pPr>
            <a:r>
              <a:rPr lang="en-US" sz="2566">
                <a:solidFill>
                  <a:srgbClr val="1A1A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Aplicación web funcional ATEDA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20881" y="6903210"/>
            <a:ext cx="4831240" cy="834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6"/>
              </a:lnSpc>
            </a:pPr>
            <a:r>
              <a:rPr lang="en-US" sz="2566">
                <a:solidFill>
                  <a:srgbClr val="1A1A1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Informe de calibración, pruebas y documentación</a:t>
            </a:r>
          </a:p>
        </p:txBody>
      </p:sp>
      <p:sp>
        <p:nvSpPr>
          <p:cNvPr id="15" name="Freeform 15"/>
          <p:cNvSpPr/>
          <p:nvPr/>
        </p:nvSpPr>
        <p:spPr>
          <a:xfrm>
            <a:off x="9725630" y="6718946"/>
            <a:ext cx="1157403" cy="1231280"/>
          </a:xfrm>
          <a:custGeom>
            <a:avLst/>
            <a:gdLst/>
            <a:ahLst/>
            <a:cxnLst/>
            <a:rect l="l" t="t" r="r" b="b"/>
            <a:pathLst>
              <a:path w="1157403" h="1231280">
                <a:moveTo>
                  <a:pt x="0" y="0"/>
                </a:moveTo>
                <a:lnTo>
                  <a:pt x="1157404" y="0"/>
                </a:lnTo>
                <a:lnTo>
                  <a:pt x="1157404" y="1231280"/>
                </a:lnTo>
                <a:lnTo>
                  <a:pt x="0" y="12312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10723" y="-192481"/>
            <a:ext cx="9910837" cy="10671962"/>
            <a:chOff x="0" y="0"/>
            <a:chExt cx="13214449" cy="14229282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19121" r="19121"/>
            <a:stretch>
              <a:fillRect/>
            </a:stretch>
          </p:blipFill>
          <p:spPr>
            <a:xfrm>
              <a:off x="0" y="0"/>
              <a:ext cx="13214449" cy="14229282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257034" y="1697132"/>
            <a:ext cx="8553677" cy="798641"/>
            <a:chOff x="0" y="0"/>
            <a:chExt cx="2252820" cy="21034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52820" cy="210342"/>
            </a:xfrm>
            <a:custGeom>
              <a:avLst/>
              <a:gdLst/>
              <a:ahLst/>
              <a:cxnLst/>
              <a:rect l="l" t="t" r="r" b="b"/>
              <a:pathLst>
                <a:path w="2252820" h="210342">
                  <a:moveTo>
                    <a:pt x="0" y="0"/>
                  </a:moveTo>
                  <a:lnTo>
                    <a:pt x="2252820" y="0"/>
                  </a:lnTo>
                  <a:lnTo>
                    <a:pt x="2252820" y="210342"/>
                  </a:lnTo>
                  <a:lnTo>
                    <a:pt x="0" y="210342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252820" cy="267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57034" y="2636358"/>
            <a:ext cx="8553677" cy="798641"/>
            <a:chOff x="0" y="0"/>
            <a:chExt cx="2252820" cy="21034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52820" cy="210342"/>
            </a:xfrm>
            <a:custGeom>
              <a:avLst/>
              <a:gdLst/>
              <a:ahLst/>
              <a:cxnLst/>
              <a:rect l="l" t="t" r="r" b="b"/>
              <a:pathLst>
                <a:path w="2252820" h="210342">
                  <a:moveTo>
                    <a:pt x="0" y="0"/>
                  </a:moveTo>
                  <a:lnTo>
                    <a:pt x="2252820" y="0"/>
                  </a:lnTo>
                  <a:lnTo>
                    <a:pt x="2252820" y="210342"/>
                  </a:lnTo>
                  <a:lnTo>
                    <a:pt x="0" y="210342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252820" cy="267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57034" y="3577873"/>
            <a:ext cx="8553677" cy="798641"/>
            <a:chOff x="0" y="0"/>
            <a:chExt cx="2252820" cy="21034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52820" cy="210342"/>
            </a:xfrm>
            <a:custGeom>
              <a:avLst/>
              <a:gdLst/>
              <a:ahLst/>
              <a:cxnLst/>
              <a:rect l="l" t="t" r="r" b="b"/>
              <a:pathLst>
                <a:path w="2252820" h="210342">
                  <a:moveTo>
                    <a:pt x="0" y="0"/>
                  </a:moveTo>
                  <a:lnTo>
                    <a:pt x="2252820" y="0"/>
                  </a:lnTo>
                  <a:lnTo>
                    <a:pt x="2252820" y="210342"/>
                  </a:lnTo>
                  <a:lnTo>
                    <a:pt x="0" y="210342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252820" cy="267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57034" y="4518734"/>
            <a:ext cx="8553677" cy="798641"/>
            <a:chOff x="0" y="0"/>
            <a:chExt cx="2252820" cy="21034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52820" cy="210342"/>
            </a:xfrm>
            <a:custGeom>
              <a:avLst/>
              <a:gdLst/>
              <a:ahLst/>
              <a:cxnLst/>
              <a:rect l="l" t="t" r="r" b="b"/>
              <a:pathLst>
                <a:path w="2252820" h="210342">
                  <a:moveTo>
                    <a:pt x="0" y="0"/>
                  </a:moveTo>
                  <a:lnTo>
                    <a:pt x="2252820" y="0"/>
                  </a:lnTo>
                  <a:lnTo>
                    <a:pt x="2252820" y="210342"/>
                  </a:lnTo>
                  <a:lnTo>
                    <a:pt x="0" y="210342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252820" cy="267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57034" y="5457296"/>
            <a:ext cx="8553677" cy="798641"/>
            <a:chOff x="0" y="0"/>
            <a:chExt cx="2252820" cy="21034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252820" cy="210342"/>
            </a:xfrm>
            <a:custGeom>
              <a:avLst/>
              <a:gdLst/>
              <a:ahLst/>
              <a:cxnLst/>
              <a:rect l="l" t="t" r="r" b="b"/>
              <a:pathLst>
                <a:path w="2252820" h="210342">
                  <a:moveTo>
                    <a:pt x="0" y="0"/>
                  </a:moveTo>
                  <a:lnTo>
                    <a:pt x="2252820" y="0"/>
                  </a:lnTo>
                  <a:lnTo>
                    <a:pt x="2252820" y="210342"/>
                  </a:lnTo>
                  <a:lnTo>
                    <a:pt x="0" y="210342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2252820" cy="267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57034" y="6395858"/>
            <a:ext cx="8553677" cy="798641"/>
            <a:chOff x="0" y="0"/>
            <a:chExt cx="2252820" cy="21034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252820" cy="210342"/>
            </a:xfrm>
            <a:custGeom>
              <a:avLst/>
              <a:gdLst/>
              <a:ahLst/>
              <a:cxnLst/>
              <a:rect l="l" t="t" r="r" b="b"/>
              <a:pathLst>
                <a:path w="2252820" h="210342">
                  <a:moveTo>
                    <a:pt x="0" y="0"/>
                  </a:moveTo>
                  <a:lnTo>
                    <a:pt x="2252820" y="0"/>
                  </a:lnTo>
                  <a:lnTo>
                    <a:pt x="2252820" y="210342"/>
                  </a:lnTo>
                  <a:lnTo>
                    <a:pt x="0" y="210342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2252820" cy="267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57034" y="7346899"/>
            <a:ext cx="8553677" cy="798641"/>
            <a:chOff x="0" y="0"/>
            <a:chExt cx="2252820" cy="21034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252820" cy="210342"/>
            </a:xfrm>
            <a:custGeom>
              <a:avLst/>
              <a:gdLst/>
              <a:ahLst/>
              <a:cxnLst/>
              <a:rect l="l" t="t" r="r" b="b"/>
              <a:pathLst>
                <a:path w="2252820" h="210342">
                  <a:moveTo>
                    <a:pt x="0" y="0"/>
                  </a:moveTo>
                  <a:lnTo>
                    <a:pt x="2252820" y="0"/>
                  </a:lnTo>
                  <a:lnTo>
                    <a:pt x="2252820" y="210342"/>
                  </a:lnTo>
                  <a:lnTo>
                    <a:pt x="0" y="210342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2252820" cy="267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57034" y="8297939"/>
            <a:ext cx="8553677" cy="798641"/>
            <a:chOff x="0" y="0"/>
            <a:chExt cx="2252820" cy="21034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252820" cy="210342"/>
            </a:xfrm>
            <a:custGeom>
              <a:avLst/>
              <a:gdLst/>
              <a:ahLst/>
              <a:cxnLst/>
              <a:rect l="l" t="t" r="r" b="b"/>
              <a:pathLst>
                <a:path w="2252820" h="210342">
                  <a:moveTo>
                    <a:pt x="0" y="0"/>
                  </a:moveTo>
                  <a:lnTo>
                    <a:pt x="2252820" y="0"/>
                  </a:lnTo>
                  <a:lnTo>
                    <a:pt x="2252820" y="210342"/>
                  </a:lnTo>
                  <a:lnTo>
                    <a:pt x="0" y="210342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2252820" cy="267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57034" y="9248980"/>
            <a:ext cx="8553677" cy="798641"/>
            <a:chOff x="0" y="0"/>
            <a:chExt cx="2252820" cy="21034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252820" cy="210342"/>
            </a:xfrm>
            <a:custGeom>
              <a:avLst/>
              <a:gdLst/>
              <a:ahLst/>
              <a:cxnLst/>
              <a:rect l="l" t="t" r="r" b="b"/>
              <a:pathLst>
                <a:path w="2252820" h="210342">
                  <a:moveTo>
                    <a:pt x="0" y="0"/>
                  </a:moveTo>
                  <a:lnTo>
                    <a:pt x="2252820" y="0"/>
                  </a:lnTo>
                  <a:lnTo>
                    <a:pt x="2252820" y="210342"/>
                  </a:lnTo>
                  <a:lnTo>
                    <a:pt x="0" y="210342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57150"/>
              <a:ext cx="2252820" cy="267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524605" y="307140"/>
            <a:ext cx="5762154" cy="962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04"/>
              </a:lnSpc>
            </a:pPr>
            <a:r>
              <a:rPr lang="en-US" sz="6253">
                <a:solidFill>
                  <a:srgbClr val="1A1A1A"/>
                </a:solidFill>
                <a:latin typeface="Poly"/>
                <a:ea typeface="Poly"/>
                <a:cs typeface="Poly"/>
                <a:sym typeface="Poly"/>
              </a:rPr>
              <a:t>Plan de Trabajo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905801" y="1678082"/>
            <a:ext cx="779626" cy="68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4"/>
              </a:lnSpc>
            </a:pPr>
            <a:r>
              <a:rPr lang="en-US" sz="4337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01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05801" y="2617308"/>
            <a:ext cx="779626" cy="68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4"/>
              </a:lnSpc>
            </a:pPr>
            <a:r>
              <a:rPr lang="en-US" sz="4337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02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58375" y="1843801"/>
            <a:ext cx="6847149" cy="47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1"/>
              </a:lnSpc>
            </a:pPr>
            <a:r>
              <a:rPr lang="en-US" sz="296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Definición del proyecto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58375" y="2783028"/>
            <a:ext cx="6847149" cy="47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1"/>
              </a:lnSpc>
            </a:pPr>
            <a:r>
              <a:rPr lang="en-US" sz="296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Planificación y elaboración de la EDT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05801" y="3558823"/>
            <a:ext cx="779626" cy="68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4"/>
              </a:lnSpc>
            </a:pPr>
            <a:r>
              <a:rPr lang="en-US" sz="4337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03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58375" y="3724543"/>
            <a:ext cx="6847149" cy="47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1"/>
              </a:lnSpc>
            </a:pPr>
            <a:r>
              <a:rPr lang="en-US" sz="296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Diseño técnico del sistema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905801" y="4511912"/>
            <a:ext cx="779626" cy="68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4"/>
              </a:lnSpc>
            </a:pPr>
            <a:r>
              <a:rPr lang="en-US" sz="4337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04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58375" y="4665404"/>
            <a:ext cx="6847149" cy="47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1"/>
              </a:lnSpc>
            </a:pPr>
            <a:r>
              <a:rPr lang="en-US" sz="296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Definición de protocolos y casos ficticios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05801" y="5450725"/>
            <a:ext cx="779626" cy="68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4"/>
              </a:lnSpc>
            </a:pPr>
            <a:r>
              <a:rPr lang="en-US" sz="4337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05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58375" y="5603966"/>
            <a:ext cx="6847149" cy="47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1"/>
              </a:lnSpc>
            </a:pPr>
            <a:r>
              <a:rPr lang="en-US" sz="296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Construcción de la aplicación base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05801" y="6389287"/>
            <a:ext cx="779626" cy="68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4"/>
              </a:lnSpc>
            </a:pPr>
            <a:r>
              <a:rPr lang="en-US" sz="4337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06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58375" y="6542528"/>
            <a:ext cx="6609249" cy="47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1"/>
              </a:lnSpc>
            </a:pPr>
            <a:r>
              <a:rPr lang="en-US" sz="296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Carga, validación y almacenamiento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7647163" y="4608165"/>
            <a:ext cx="779626" cy="68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4"/>
              </a:lnSpc>
            </a:pPr>
            <a:r>
              <a:rPr lang="en-US" sz="4337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04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58375" y="7493569"/>
            <a:ext cx="6847149" cy="47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1"/>
              </a:lnSpc>
            </a:pPr>
            <a:r>
              <a:rPr lang="en-US" sz="296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Implementación de alertas y seguimiento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7647163" y="5686648"/>
            <a:ext cx="779626" cy="68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4"/>
              </a:lnSpc>
            </a:pPr>
            <a:r>
              <a:rPr lang="en-US" sz="4337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05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58375" y="8444609"/>
            <a:ext cx="6847149" cy="47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1"/>
              </a:lnSpc>
            </a:pPr>
            <a:r>
              <a:rPr lang="en-US" sz="296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Calibración y Pruebas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7647163" y="6765132"/>
            <a:ext cx="779626" cy="68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4"/>
              </a:lnSpc>
            </a:pPr>
            <a:r>
              <a:rPr lang="en-US" sz="4337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06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58375" y="9395650"/>
            <a:ext cx="6609249" cy="47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1"/>
              </a:lnSpc>
            </a:pPr>
            <a:r>
              <a:rPr lang="en-US" sz="296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Despliegue y documentación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905801" y="7261086"/>
            <a:ext cx="779626" cy="68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4"/>
              </a:lnSpc>
            </a:pPr>
            <a:r>
              <a:rPr lang="en-US" sz="4337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07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905801" y="8347701"/>
            <a:ext cx="779626" cy="68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4"/>
              </a:lnSpc>
            </a:pPr>
            <a:r>
              <a:rPr lang="en-US" sz="4337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08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905801" y="9287080"/>
            <a:ext cx="779626" cy="680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4"/>
              </a:lnSpc>
            </a:pPr>
            <a:r>
              <a:rPr lang="en-US" sz="4337">
                <a:solidFill>
                  <a:srgbClr val="FFFFFF"/>
                </a:solidFill>
                <a:latin typeface="Poly"/>
                <a:ea typeface="Poly"/>
                <a:cs typeface="Poly"/>
                <a:sym typeface="Poly"/>
              </a:rPr>
              <a:t>09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51840" y="5743893"/>
            <a:ext cx="19134859" cy="4776021"/>
            <a:chOff x="0" y="0"/>
            <a:chExt cx="5039634" cy="12578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39634" cy="1257882"/>
            </a:xfrm>
            <a:custGeom>
              <a:avLst/>
              <a:gdLst/>
              <a:ahLst/>
              <a:cxnLst/>
              <a:rect l="l" t="t" r="r" b="b"/>
              <a:pathLst>
                <a:path w="5039634" h="1257882">
                  <a:moveTo>
                    <a:pt x="0" y="0"/>
                  </a:moveTo>
                  <a:lnTo>
                    <a:pt x="5039634" y="0"/>
                  </a:lnTo>
                  <a:lnTo>
                    <a:pt x="5039634" y="1257882"/>
                  </a:lnTo>
                  <a:lnTo>
                    <a:pt x="0" y="1257882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39634" cy="12959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495020" y="-2036821"/>
            <a:ext cx="19278039" cy="5246370"/>
            <a:chOff x="0" y="0"/>
            <a:chExt cx="2986673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986673" cy="812800"/>
            </a:xfrm>
            <a:custGeom>
              <a:avLst/>
              <a:gdLst/>
              <a:ahLst/>
              <a:cxnLst/>
              <a:rect l="l" t="t" r="r" b="b"/>
              <a:pathLst>
                <a:path w="2986673" h="812800">
                  <a:moveTo>
                    <a:pt x="0" y="0"/>
                  </a:moveTo>
                  <a:lnTo>
                    <a:pt x="2986673" y="0"/>
                  </a:lnTo>
                  <a:lnTo>
                    <a:pt x="2986673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t="-34295" b="-110061"/>
              </a:stretch>
            </a:blipFill>
          </p:spPr>
          <p:txBody>
            <a:bodyPr/>
            <a:lstStyle/>
            <a:p>
              <a:endParaRPr lang="es-419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579784" y="4604617"/>
            <a:ext cx="10971928" cy="84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1"/>
              </a:lnSpc>
            </a:pPr>
            <a:r>
              <a:rPr lang="en-US" sz="4858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11 Semanas de actividades progresivas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67199" y="6417392"/>
            <a:ext cx="12968023" cy="2936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656" lvl="1" indent="-474828" algn="l">
              <a:lnSpc>
                <a:spcPts val="6158"/>
              </a:lnSpc>
              <a:buFont typeface="Arial"/>
              <a:buChar char="•"/>
            </a:pPr>
            <a:r>
              <a:rPr lang="en-US" sz="4398">
                <a:solidFill>
                  <a:srgbClr val="FDFDFD"/>
                </a:solidFill>
                <a:latin typeface="Poly"/>
                <a:ea typeface="Poly"/>
                <a:cs typeface="Poly"/>
                <a:sym typeface="Poly"/>
              </a:rPr>
              <a:t>Definición y planificación</a:t>
            </a:r>
          </a:p>
          <a:p>
            <a:pPr marL="949656" lvl="1" indent="-474828" algn="l">
              <a:lnSpc>
                <a:spcPts val="10996"/>
              </a:lnSpc>
              <a:buFont typeface="Arial"/>
              <a:buChar char="•"/>
            </a:pPr>
            <a:r>
              <a:rPr lang="en-US" sz="4398">
                <a:solidFill>
                  <a:srgbClr val="FDFDFD"/>
                </a:solidFill>
                <a:latin typeface="Poly"/>
                <a:ea typeface="Poly"/>
                <a:cs typeface="Poly"/>
                <a:sym typeface="Poly"/>
              </a:rPr>
              <a:t>Diseño, desarrollo, calibración y pruebas</a:t>
            </a:r>
          </a:p>
          <a:p>
            <a:pPr marL="949656" lvl="1" indent="-474828" algn="l">
              <a:lnSpc>
                <a:spcPts val="6158"/>
              </a:lnSpc>
              <a:buFont typeface="Arial"/>
              <a:buChar char="•"/>
            </a:pPr>
            <a:r>
              <a:rPr lang="en-US" sz="4398">
                <a:solidFill>
                  <a:srgbClr val="FDFDFD"/>
                </a:solidFill>
                <a:latin typeface="Poly"/>
                <a:ea typeface="Poly"/>
                <a:cs typeface="Poly"/>
                <a:sym typeface="Poly"/>
              </a:rPr>
              <a:t>Despliegue, documentación y cierre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80734" y="3605448"/>
            <a:ext cx="7680886" cy="102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70"/>
              </a:lnSpc>
            </a:pPr>
            <a:r>
              <a:rPr lang="en-US" sz="7447" spc="-230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Carta Gantt e Hitos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/>
          <p:nvPr/>
        </p:nvGraphicFramePr>
        <p:xfrm>
          <a:off x="610336" y="795373"/>
          <a:ext cx="18859500" cy="461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22631400" imgH="8382000" progId="Excel.Sheet.12">
                  <p:embed/>
                </p:oleObj>
              </mc:Choice>
              <mc:Fallback>
                <p:oleObj name="Worksheet" r:id="rId2" imgW="22631400" imgH="83820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10336" y="795373"/>
                        <a:ext cx="18859500" cy="461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D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12024" y="-1374379"/>
            <a:ext cx="6639827" cy="11636661"/>
            <a:chOff x="0" y="0"/>
            <a:chExt cx="2247162" cy="39382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47162" cy="3938274"/>
            </a:xfrm>
            <a:custGeom>
              <a:avLst/>
              <a:gdLst/>
              <a:ahLst/>
              <a:cxnLst/>
              <a:rect l="l" t="t" r="r" b="b"/>
              <a:pathLst>
                <a:path w="2247162" h="3938274">
                  <a:moveTo>
                    <a:pt x="0" y="0"/>
                  </a:moveTo>
                  <a:lnTo>
                    <a:pt x="2247162" y="0"/>
                  </a:lnTo>
                  <a:lnTo>
                    <a:pt x="2247162" y="3938274"/>
                  </a:lnTo>
                  <a:lnTo>
                    <a:pt x="0" y="3938274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</p:grpSp>
      <p:grpSp>
        <p:nvGrpSpPr>
          <p:cNvPr id="4" name="Group 4"/>
          <p:cNvGrpSpPr/>
          <p:nvPr/>
        </p:nvGrpSpPr>
        <p:grpSpPr>
          <a:xfrm rot="-5400000">
            <a:off x="2066507" y="2970521"/>
            <a:ext cx="6639827" cy="4952524"/>
            <a:chOff x="0" y="0"/>
            <a:chExt cx="2247162" cy="167611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47162" cy="1676116"/>
            </a:xfrm>
            <a:custGeom>
              <a:avLst/>
              <a:gdLst/>
              <a:ahLst/>
              <a:cxnLst/>
              <a:rect l="l" t="t" r="r" b="b"/>
              <a:pathLst>
                <a:path w="2247162" h="1676116">
                  <a:moveTo>
                    <a:pt x="0" y="0"/>
                  </a:moveTo>
                  <a:lnTo>
                    <a:pt x="2247162" y="0"/>
                  </a:lnTo>
                  <a:lnTo>
                    <a:pt x="2247162" y="1676116"/>
                  </a:lnTo>
                  <a:lnTo>
                    <a:pt x="0" y="1676116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708525" y="2513803"/>
            <a:ext cx="4754880" cy="6609055"/>
            <a:chOff x="0" y="0"/>
            <a:chExt cx="6339840" cy="8812074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2"/>
            <a:srcRect l="5151" r="47004"/>
            <a:stretch>
              <a:fillRect/>
            </a:stretch>
          </p:blipFill>
          <p:spPr>
            <a:xfrm>
              <a:off x="0" y="0"/>
              <a:ext cx="6339840" cy="8812074"/>
            </a:xfrm>
            <a:prstGeom prst="rect">
              <a:avLst/>
            </a:prstGeom>
          </p:spPr>
        </p:pic>
      </p:grpSp>
      <p:grpSp>
        <p:nvGrpSpPr>
          <p:cNvPr id="8" name="Group 8"/>
          <p:cNvGrpSpPr/>
          <p:nvPr/>
        </p:nvGrpSpPr>
        <p:grpSpPr>
          <a:xfrm rot="-5400000">
            <a:off x="10276541" y="2970521"/>
            <a:ext cx="6639827" cy="4952524"/>
            <a:chOff x="0" y="0"/>
            <a:chExt cx="2247162" cy="167611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47162" cy="1676116"/>
            </a:xfrm>
            <a:custGeom>
              <a:avLst/>
              <a:gdLst/>
              <a:ahLst/>
              <a:cxnLst/>
              <a:rect l="l" t="t" r="r" b="b"/>
              <a:pathLst>
                <a:path w="2247162" h="1676116">
                  <a:moveTo>
                    <a:pt x="0" y="0"/>
                  </a:moveTo>
                  <a:lnTo>
                    <a:pt x="2247162" y="0"/>
                  </a:lnTo>
                  <a:lnTo>
                    <a:pt x="2247162" y="1676116"/>
                  </a:lnTo>
                  <a:lnTo>
                    <a:pt x="0" y="1676116"/>
                  </a:lnTo>
                  <a:close/>
                </a:path>
              </a:pathLst>
            </a:custGeom>
            <a:solidFill>
              <a:srgbClr val="001E32"/>
            </a:solidFill>
          </p:spPr>
          <p:txBody>
            <a:bodyPr/>
            <a:lstStyle/>
            <a:p>
              <a:endParaRPr lang="es-419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927851" y="2513803"/>
            <a:ext cx="4754880" cy="6609055"/>
            <a:chOff x="0" y="0"/>
            <a:chExt cx="552754" cy="76830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52754" cy="768302"/>
            </a:xfrm>
            <a:custGeom>
              <a:avLst/>
              <a:gdLst/>
              <a:ahLst/>
              <a:cxnLst/>
              <a:rect l="l" t="t" r="r" b="b"/>
              <a:pathLst>
                <a:path w="552754" h="768302">
                  <a:moveTo>
                    <a:pt x="0" y="0"/>
                  </a:moveTo>
                  <a:lnTo>
                    <a:pt x="552754" y="0"/>
                  </a:lnTo>
                  <a:lnTo>
                    <a:pt x="552754" y="768302"/>
                  </a:lnTo>
                  <a:lnTo>
                    <a:pt x="0" y="768302"/>
                  </a:lnTo>
                  <a:close/>
                </a:path>
              </a:pathLst>
            </a:custGeom>
            <a:blipFill>
              <a:blip r:embed="rId3"/>
              <a:stretch>
                <a:fillRect l="-54507" r="-54507"/>
              </a:stretch>
            </a:blipFill>
          </p:spPr>
          <p:txBody>
            <a:bodyPr/>
            <a:lstStyle/>
            <a:p>
              <a:endParaRPr lang="es-419"/>
            </a:p>
          </p:txBody>
        </p:sp>
      </p:grpSp>
      <p:sp>
        <p:nvSpPr>
          <p:cNvPr id="12" name="Freeform 12"/>
          <p:cNvSpPr/>
          <p:nvPr/>
        </p:nvSpPr>
        <p:spPr>
          <a:xfrm>
            <a:off x="7994930" y="5143500"/>
            <a:ext cx="2800673" cy="1442347"/>
          </a:xfrm>
          <a:custGeom>
            <a:avLst/>
            <a:gdLst/>
            <a:ahLst/>
            <a:cxnLst/>
            <a:rect l="l" t="t" r="r" b="b"/>
            <a:pathLst>
              <a:path w="2800673" h="1442347">
                <a:moveTo>
                  <a:pt x="0" y="0"/>
                </a:moveTo>
                <a:lnTo>
                  <a:pt x="2800673" y="0"/>
                </a:lnTo>
                <a:lnTo>
                  <a:pt x="2800673" y="1442347"/>
                </a:lnTo>
                <a:lnTo>
                  <a:pt x="0" y="14423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419"/>
          </a:p>
        </p:txBody>
      </p:sp>
      <p:sp>
        <p:nvSpPr>
          <p:cNvPr id="13" name="TextBox 13"/>
          <p:cNvSpPr txBox="1"/>
          <p:nvPr/>
        </p:nvSpPr>
        <p:spPr>
          <a:xfrm>
            <a:off x="8028653" y="709411"/>
            <a:ext cx="2603436" cy="109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1"/>
              </a:lnSpc>
            </a:pPr>
            <a:r>
              <a:rPr lang="en-US" sz="6762">
                <a:solidFill>
                  <a:srgbClr val="001E32"/>
                </a:solidFill>
                <a:latin typeface="Poly"/>
                <a:ea typeface="Poly"/>
                <a:cs typeface="Poly"/>
                <a:sym typeface="Poly"/>
              </a:rPr>
              <a:t>Cierre</a:t>
            </a:r>
          </a:p>
        </p:txBody>
      </p:sp>
      <p:sp>
        <p:nvSpPr>
          <p:cNvPr id="14" name="Freeform 14"/>
          <p:cNvSpPr/>
          <p:nvPr/>
        </p:nvSpPr>
        <p:spPr>
          <a:xfrm>
            <a:off x="5897880" y="4494276"/>
            <a:ext cx="6492240" cy="1298448"/>
          </a:xfrm>
          <a:custGeom>
            <a:avLst/>
            <a:gdLst/>
            <a:ahLst/>
            <a:cxnLst/>
            <a:rect l="l" t="t" r="r" b="b"/>
            <a:pathLst>
              <a:path w="6492240" h="1298448">
                <a:moveTo>
                  <a:pt x="0" y="0"/>
                </a:moveTo>
                <a:lnTo>
                  <a:pt x="3017520" y="0"/>
                </a:lnTo>
                <a:cubicBezTo>
                  <a:pt x="3143772" y="0"/>
                  <a:pt x="3246120" y="102348"/>
                  <a:pt x="3246120" y="228600"/>
                </a:cubicBezTo>
                <a:lnTo>
                  <a:pt x="3246120" y="1069848"/>
                </a:lnTo>
                <a:cubicBezTo>
                  <a:pt x="3246120" y="1130476"/>
                  <a:pt x="3270205" y="1188622"/>
                  <a:pt x="3313076" y="1231493"/>
                </a:cubicBezTo>
                <a:cubicBezTo>
                  <a:pt x="3355946" y="1274363"/>
                  <a:pt x="3414091" y="1298448"/>
                  <a:pt x="3474720" y="1298448"/>
                </a:cubicBezTo>
                <a:lnTo>
                  <a:pt x="6492240" y="1298448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419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341</Words>
  <Application>Microsoft Office PowerPoint</Application>
  <PresentationFormat>Personalizado</PresentationFormat>
  <Paragraphs>114</Paragraphs>
  <Slides>17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4" baseType="lpstr">
      <vt:lpstr>Poly</vt:lpstr>
      <vt:lpstr>Arial</vt:lpstr>
      <vt:lpstr>Glacial Indifference Bold</vt:lpstr>
      <vt:lpstr>Calibri</vt:lpstr>
      <vt:lpstr>Glacial Indifference</vt:lpstr>
      <vt:lpstr>Office Theme</vt:lpstr>
      <vt:lpstr>Worksheet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instituto profesional duoc</dc:title>
  <cp:lastModifiedBy>BENJAMIN . TAPIA VERGARA</cp:lastModifiedBy>
  <cp:revision>2</cp:revision>
  <dcterms:created xsi:type="dcterms:W3CDTF">2006-08-16T00:00:00Z</dcterms:created>
  <dcterms:modified xsi:type="dcterms:W3CDTF">2026-09-24T23:15:34Z</dcterms:modified>
  <dc:identifier>DAHT0naFj4E</dc:identifier>
</cp:coreProperties>
</file>